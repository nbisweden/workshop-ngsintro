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42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4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41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25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1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42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6.xml" ContentType="application/vnd.openxmlformats-officedocument.presentationml.slideMaster+xml"/>
  <Override PartName="/ppt/presProps.xml" ContentType="application/vnd.openxmlformats-officedocument.presentationml.presProps+xml"/>
  <Override PartName="/ppt/theme/theme29.xml" ContentType="application/vnd.openxmlformats-officedocument.theme+xml"/>
  <Override PartName="/ppt/theme/theme28.xml" ContentType="application/vnd.openxmlformats-officedocument.theme+xml"/>
  <Override PartName="/ppt/theme/theme27.xml" ContentType="application/vnd.openxmlformats-officedocument.theme+xml"/>
  <Override PartName="/ppt/theme/theme26.xml" ContentType="application/vnd.openxmlformats-officedocument.theme+xml"/>
  <Override PartName="/ppt/theme/theme25.xml" ContentType="application/vnd.openxmlformats-officedocument.theme+xml"/>
  <Override PartName="/ppt/theme/theme24.xml" ContentType="application/vnd.openxmlformats-officedocument.theme+xml"/>
  <Override PartName="/ppt/theme/theme23.xml" ContentType="application/vnd.openxmlformats-officedocument.theme+xml"/>
  <Override PartName="/ppt/theme/theme22.xml" ContentType="application/vnd.openxmlformats-officedocument.theme+xml"/>
  <Override PartName="/ppt/theme/theme21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18.xml" ContentType="application/vnd.openxmlformats-officedocument.theme+xml"/>
  <Override PartName="/ppt/theme/theme17.xml" ContentType="application/vnd.openxmlformats-officedocument.theme+xml"/>
  <Override PartName="/ppt/theme/theme16.xml" ContentType="application/vnd.openxmlformats-officedocument.them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10.xml" ContentType="application/vnd.openxmlformats-officedocument.theme+xml"/>
  <Override PartName="/ppt/theme/theme36.xml" ContentType="application/vnd.openxmlformats-officedocument.theme+xml"/>
  <Override PartName="/ppt/theme/theme9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40.xml" ContentType="application/vnd.openxmlformats-officedocument.theme+xml"/>
  <Override PartName="/ppt/theme/theme39.xml" ContentType="application/vnd.openxmlformats-officedocument.theme+xml"/>
  <Override PartName="/ppt/theme/theme41.xml" ContentType="application/vnd.openxmlformats-officedocument.theme+xml"/>
  <Override PartName="/ppt/theme/theme35.xml" ContentType="application/vnd.openxmlformats-officedocument.theme+xml"/>
  <Override PartName="/ppt/theme/theme8.xml" ContentType="application/vnd.openxmlformats-officedocument.theme+xml"/>
  <Override PartName="/ppt/theme/theme42.xml" ContentType="application/vnd.openxmlformats-officedocument.theme+xml"/>
  <Override PartName="/ppt/theme/theme43.xml" ContentType="application/vnd.openxmlformats-officedocument.theme+xml"/>
  <Override PartName="/ppt/theme/theme34.xml" ContentType="application/vnd.openxmlformats-officedocument.theme+xml"/>
  <Override PartName="/ppt/theme/theme7.xml" ContentType="application/vnd.openxmlformats-officedocument.theme+xml"/>
  <Override PartName="/ppt/theme/theme6.xml" ContentType="application/vnd.openxmlformats-officedocument.theme+xml"/>
  <Override PartName="/ppt/theme/theme33.xml" ContentType="application/vnd.openxmlformats-officedocument.theme+xml"/>
  <Override PartName="/ppt/theme/theme5.xml" ContentType="application/vnd.openxmlformats-officedocument.theme+xml"/>
  <Override PartName="/ppt/theme/theme32.xml" ContentType="application/vnd.openxmlformats-officedocument.theme+xml"/>
  <Override PartName="/ppt/theme/theme4.xml" ContentType="application/vnd.openxmlformats-officedocument.theme+xml"/>
  <Override PartName="/ppt/theme/theme31.xml" ContentType="application/vnd.openxmlformats-officedocument.theme+xml"/>
  <Override PartName="/ppt/theme/theme13.xml" ContentType="application/vnd.openxmlformats-officedocument.theme+xml"/>
  <Override PartName="/ppt/theme/theme3.xml" ContentType="application/vnd.openxmlformats-officedocument.theme+xml"/>
  <Override PartName="/ppt/theme/theme30.xml" ContentType="application/vnd.openxmlformats-officedocument.theme+xml"/>
  <Override PartName="/ppt/theme/theme12.xml" ContentType="application/vnd.openxmlformats-officedocument.theme+xml"/>
  <Override PartName="/ppt/theme/theme11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svg" ContentType="image/svg"/>
  <Override PartName="/ppt/media/image9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10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slideLayout22.xml" ContentType="application/vnd.openxmlformats-officedocument.presentationml.slideLayout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Slides/_rels/notesSlide1.xml.rels" ContentType="application/vnd.openxmlformats-package.relationships+xml"/>
  <Override PartName="/ppt/notesSlides/notesSlide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  <p:sldMasterId id="2147483672" r:id="rId14"/>
    <p:sldMasterId id="2147483674" r:id="rId15"/>
    <p:sldMasterId id="2147483676" r:id="rId16"/>
    <p:sldMasterId id="2147483678" r:id="rId17"/>
    <p:sldMasterId id="2147483680" r:id="rId18"/>
    <p:sldMasterId id="2147483682" r:id="rId19"/>
    <p:sldMasterId id="2147483684" r:id="rId20"/>
    <p:sldMasterId id="2147483686" r:id="rId21"/>
    <p:sldMasterId id="2147483688" r:id="rId22"/>
    <p:sldMasterId id="2147483690" r:id="rId23"/>
    <p:sldMasterId id="2147483692" r:id="rId24"/>
    <p:sldMasterId id="2147483694" r:id="rId25"/>
    <p:sldMasterId id="2147483696" r:id="rId26"/>
    <p:sldMasterId id="2147483698" r:id="rId27"/>
    <p:sldMasterId id="2147483700" r:id="rId28"/>
    <p:sldMasterId id="2147483702" r:id="rId29"/>
    <p:sldMasterId id="2147483704" r:id="rId30"/>
    <p:sldMasterId id="2147483706" r:id="rId31"/>
    <p:sldMasterId id="2147483708" r:id="rId32"/>
    <p:sldMasterId id="2147483710" r:id="rId33"/>
    <p:sldMasterId id="2147483712" r:id="rId34"/>
    <p:sldMasterId id="2147483714" r:id="rId35"/>
    <p:sldMasterId id="2147483716" r:id="rId36"/>
    <p:sldMasterId id="2147483718" r:id="rId37"/>
    <p:sldMasterId id="2147483720" r:id="rId38"/>
    <p:sldMasterId id="2147483722" r:id="rId39"/>
    <p:sldMasterId id="2147483724" r:id="rId40"/>
    <p:sldMasterId id="2147483726" r:id="rId41"/>
    <p:sldMasterId id="2147483728" r:id="rId42"/>
    <p:sldMasterId id="2147483730" r:id="rId43"/>
  </p:sldMasterIdLst>
  <p:notesMasterIdLst>
    <p:notesMasterId r:id="rId44"/>
  </p:notesMasterIdLst>
  <p:sldIdLst>
    <p:sldId id="256" r:id="rId45"/>
    <p:sldId id="257" r:id="rId46"/>
    <p:sldId id="258" r:id="rId47"/>
    <p:sldId id="259" r:id="rId48"/>
    <p:sldId id="260" r:id="rId49"/>
    <p:sldId id="261" r:id="rId50"/>
    <p:sldId id="262" r:id="rId51"/>
    <p:sldId id="263" r:id="rId5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slideMaster" Target="slideMasters/slideMaster41.xml"/><Relationship Id="rId43" Type="http://schemas.openxmlformats.org/officeDocument/2006/relationships/slideMaster" Target="slideMasters/slideMaster42.xml"/><Relationship Id="rId44" Type="http://schemas.openxmlformats.org/officeDocument/2006/relationships/notesMaster" Target="notesMasters/notesMaster1.xml"/><Relationship Id="rId45" Type="http://schemas.openxmlformats.org/officeDocument/2006/relationships/slide" Target="slides/slide1.xml"/><Relationship Id="rId46" Type="http://schemas.openxmlformats.org/officeDocument/2006/relationships/slide" Target="slides/slide2.xml"/><Relationship Id="rId47" Type="http://schemas.openxmlformats.org/officeDocument/2006/relationships/slide" Target="slides/slide3.xml"/><Relationship Id="rId48" Type="http://schemas.openxmlformats.org/officeDocument/2006/relationships/slide" Target="slides/slide4.xml"/><Relationship Id="rId49" Type="http://schemas.openxmlformats.org/officeDocument/2006/relationships/slide" Target="slides/slide5.xml"/><Relationship Id="rId50" Type="http://schemas.openxmlformats.org/officeDocument/2006/relationships/slide" Target="slides/slide6.xml"/><Relationship Id="rId51" Type="http://schemas.openxmlformats.org/officeDocument/2006/relationships/slide" Target="slides/slide7.xml"/><Relationship Id="rId52" Type="http://schemas.openxmlformats.org/officeDocument/2006/relationships/slide" Target="slides/slide8.xml"/><Relationship Id="rId5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PlaceHolder 1"/>
          <p:cNvSpPr>
            <a:spLocks noGrp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9" name="PlaceHolder 4"/>
          <p:cNvSpPr>
            <a:spLocks noGrp="1"/>
          </p:cNvSpPr>
          <p:nvPr>
            <p:ph type="dt" idx="12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0" name="PlaceHolder 5"/>
          <p:cNvSpPr>
            <a:spLocks noGrp="1"/>
          </p:cNvSpPr>
          <p:nvPr>
            <p:ph type="ftr" idx="12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1" name="PlaceHolder 6"/>
          <p:cNvSpPr>
            <a:spLocks noGrp="1"/>
          </p:cNvSpPr>
          <p:nvPr>
            <p:ph type="sldNum" idx="12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C401878-06E1-4324-8A46-C6F3264C51D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680" cy="3085560"/>
          </a:xfrm>
          <a:prstGeom prst="rect">
            <a:avLst/>
          </a:prstGeom>
          <a:ln w="0">
            <a:noFill/>
          </a:ln>
        </p:spPr>
      </p:sp>
      <p:sp>
        <p:nvSpPr>
          <p:cNvPr id="2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 type="sldNum" idx="12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6ADFE4E-BC24-4B01-B2CE-698B53C782D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1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_with our host u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C80AC56-3C77-4E0A-B0D1-CC37269303E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no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4DC4147-7184-4848-A5D4-F0A5A736F11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EDA66EB-77C4-47AA-8848-6E3A5CCC798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E436B144-04FC-43F7-85FD-BA2815E2576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wo columns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D728C26-1064-463D-87C7-75FA7427C8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hree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20A0E89-74DB-4CC1-B8E3-D116E4A0D6C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ix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0EBAA2FC-C4D3-462E-8353-BAC471EEB23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4DD8C5C-C8DB-4910-9917-6BAB30D767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with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F333129-09E8-447E-AE39-304F587A24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ullscreen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7FF2D159-D8F5-4DE8-A903-B85E9AE2F6E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ullscreen_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9F42309-29A9-488D-9F79-15C411C1F3C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_without our host u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2F04286E-5790-462E-AF49-F74CAEC1CAD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our host un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1513D840-7D62-4272-8103-9E9D2A2E0AD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lin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8E13FAA2-FB0F-4363-A93A-75F1C328A2F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section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309DB2D7-1EE5-4F70-B8D5-E2005C33355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0448E102-51D8-466C-91D5-F68931EBD68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genda_with colo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00CD0191-6BE6-4717-88DB-C1F953496C1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4034CE26-97AE-4200-92AD-4C6A21699F6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picture_n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586593F9-1329-43BC-AE5A-03D7902BF1D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323C800B-DFC5-49BF-8621-48DB0F0844A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78F01182-511B-42AB-BA77-CE1E385E60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845E728C-104A-4031-9286-2EE58946658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6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15FEAA7B-4581-4A20-B5DA-9C38683EC4D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B22FC74E-4DBC-45A8-AACD-F17B814D17E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FFE1E4BB-3963-442D-9CEC-247269365AC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7"/>
          </p:nvPr>
        </p:nvSpPr>
        <p:spPr/>
        <p:txBody>
          <a:bodyPr/>
          <a:p>
            <a:fld id="{5FCB87F4-8142-4451-B035-6DFBD6BE092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0"/>
          </p:nvPr>
        </p:nvSpPr>
        <p:spPr/>
        <p:txBody>
          <a:bodyPr/>
          <a:p>
            <a:fld id="{8C70C324-57BD-4DCB-8131-CF22133381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3"/>
          </p:nvPr>
        </p:nvSpPr>
        <p:spPr/>
        <p:txBody>
          <a:bodyPr/>
          <a:p>
            <a:fld id="{FD8953DC-3B14-4F2A-BF98-D19256A2E96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6"/>
          </p:nvPr>
        </p:nvSpPr>
        <p:spPr/>
        <p:txBody>
          <a:bodyPr/>
          <a:p>
            <a:fld id="{6E54B0A6-0D05-44BC-A6C9-186BEA4BBCE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Fulllscreen_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9"/>
          </p:nvPr>
        </p:nvSpPr>
        <p:spPr/>
        <p:txBody>
          <a:bodyPr/>
          <a:p>
            <a:fld id="{4CFA85B0-794D-4CDC-AD77-AC01818403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2"/>
          </p:nvPr>
        </p:nvSpPr>
        <p:spPr/>
        <p:txBody>
          <a:bodyPr/>
          <a:p>
            <a:fld id="{A89FECE7-80BB-4FD4-A9D1-8FBFDD8B504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5"/>
          </p:nvPr>
        </p:nvSpPr>
        <p:spPr/>
        <p:txBody>
          <a:bodyPr/>
          <a:p>
            <a:fld id="{0BBE7408-383A-405A-B1BE-F4748D796E4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8"/>
          </p:nvPr>
        </p:nvSpPr>
        <p:spPr/>
        <p:txBody>
          <a:bodyPr/>
          <a:p>
            <a:fld id="{3D168CD3-8BC6-4329-BF34-A95F5E862D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1"/>
          </p:nvPr>
        </p:nvSpPr>
        <p:spPr/>
        <p:txBody>
          <a:bodyPr/>
          <a:p>
            <a:fld id="{C70D9CE4-0706-4280-8A61-167E0B901C2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ub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4"/>
          </p:nvPr>
        </p:nvSpPr>
        <p:spPr/>
        <p:txBody>
          <a:bodyPr/>
          <a:p>
            <a:fld id="{9FAB2739-83DF-44AD-8B40-C5E2EBD5256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7"/>
          </p:nvPr>
        </p:nvSpPr>
        <p:spPr/>
        <p:txBody>
          <a:bodyPr/>
          <a:p>
            <a:fld id="{5B91BCDC-1407-4052-A19A-DB173F71DC1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0"/>
          </p:nvPr>
        </p:nvSpPr>
        <p:spPr/>
        <p:txBody>
          <a:bodyPr/>
          <a:p>
            <a:fld id="{54824945-13AA-422F-92D7-E5A1A68129D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3"/>
          </p:nvPr>
        </p:nvSpPr>
        <p:spPr/>
        <p:txBody>
          <a:bodyPr/>
          <a:p>
            <a:fld id="{48026589-7A0B-4DE0-8F22-9D4BACA4D72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One column_with picture_no bullet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6"/>
          </p:nvPr>
        </p:nvSpPr>
        <p:spPr/>
        <p:txBody>
          <a:bodyPr/>
          <a:p>
            <a:fld id="{7C5D1C5F-100E-4418-9881-82380AD43B9F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9"/>
          </p:nvPr>
        </p:nvSpPr>
        <p:spPr/>
        <p:txBody>
          <a:bodyPr/>
          <a:p>
            <a:fld id="{566E25BA-D06C-4389-8CE4-4ED3858515B5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slideLayout" Target="../slideLayouts/slideLayout13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4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5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6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17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slideLayout" Target="../slideLayouts/slideLayout18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svg"/><Relationship Id="rId6" Type="http://schemas.openxmlformats.org/officeDocument/2006/relationships/slideLayout" Target="../slideLayouts/slideLayout19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0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1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23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6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7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8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29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0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1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2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4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slideLayout" Target="../slideLayouts/slideLayout35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6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37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8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39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0.xml"/>
</Relationships>
</file>

<file path=ppt/slideMasters/_rels/slideMaster41.xml.rels><?xml version="1.0" encoding="UTF-8"?>
<Relationships xmlns="http://schemas.openxmlformats.org/package/2006/relationships"><Relationship Id="rId1" Type="http://schemas.openxmlformats.org/officeDocument/2006/relationships/theme" Target="../theme/theme41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1.xml"/>
</Relationships>
</file>

<file path=ppt/slideMasters/_rels/slideMaster42.xml.rels><?xml version="1.0" encoding="UTF-8"?>
<Relationships xmlns="http://schemas.openxmlformats.org/package/2006/relationships"><Relationship Id="rId1" Type="http://schemas.openxmlformats.org/officeDocument/2006/relationships/theme" Target="../theme/theme42.xml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4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1" name="Picture 9" descr="A picture containing food&#10;&#10;Description automatically generated"/>
          <p:cNvPicPr/>
          <p:nvPr/>
        </p:nvPicPr>
        <p:blipFill>
          <a:blip r:embed="rId3"/>
          <a:stretch/>
        </p:blipFill>
        <p:spPr>
          <a:xfrm>
            <a:off x="8295840" y="181440"/>
            <a:ext cx="3057480" cy="767520"/>
          </a:xfrm>
          <a:prstGeom prst="rect">
            <a:avLst/>
          </a:prstGeom>
          <a:ln w="0">
            <a:noFill/>
          </a:ln>
        </p:spPr>
      </p:pic>
      <p:pic>
        <p:nvPicPr>
          <p:cNvPr id="2" name="Picture 10" descr="A close up of a logo&#10;&#10;Description automatically generated"/>
          <p:cNvPicPr/>
          <p:nvPr/>
        </p:nvPicPr>
        <p:blipFill>
          <a:blip r:embed="rId4"/>
          <a:stretch/>
        </p:blipFill>
        <p:spPr>
          <a:xfrm>
            <a:off x="3857400" y="120600"/>
            <a:ext cx="3604680" cy="782640"/>
          </a:xfrm>
          <a:prstGeom prst="rect">
            <a:avLst/>
          </a:prstGeom>
          <a:ln w="0">
            <a:noFill/>
          </a:ln>
        </p:spPr>
      </p:pic>
      <p:cxnSp>
        <p:nvCxnSpPr>
          <p:cNvPr id="3" name="Straight Connector 7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ED69F9-3428-42B9-BB06-EA33155E0150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11" name="Picture 2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2" name="Straight Connector 25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3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EEBC63-1E26-4767-A7F7-6C053D5807ED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4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17" name="Picture 12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8" name="Straight Connector 13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9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AA5541-3C66-4AB9-BB2F-D47D736C1ACC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4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23" name="Picture 12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24" name="Straight Connector 13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25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7A6A909-4E23-4E6D-8400-3F4C08A946A5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4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29" name="Picture 16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30" name="Straight Connector 17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31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C19EBA-FF9B-44F5-AC24-AA0AADD1B018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4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35" name="Picture 1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36" name="Straight Connector 15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37" name="PlaceHolder 1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074F05B-F621-46D3-9973-88570CCBECC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4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41" name="Picture 1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42" name="Straight Connector 15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43" name="PlaceHolder 1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5582492-89B2-456C-B6AB-3B7D4C3975BD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4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47" name="Picture 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7141EA8-6958-4F2F-9EB8-F6ADB33DC7B6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4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52" name="Picture 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530A5F2-9838-4637-B3B0-BDBFBE4CA3B0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4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57" name="Picture 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0FB5839-AFC9-46DE-8B6F-8FFE176C2893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4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62" name="Picture 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63" name="PlaceHolder 1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60EB8C9-E952-40D2-A4BA-3B59C69771A9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4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67" name="Picture 7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8179560" y="171360"/>
            <a:ext cx="3604680" cy="782640"/>
          </a:xfrm>
          <a:prstGeom prst="rect">
            <a:avLst/>
          </a:prstGeom>
          <a:ln w="0">
            <a:noFill/>
          </a:ln>
        </p:spPr>
      </p:pic>
      <p:cxnSp>
        <p:nvCxnSpPr>
          <p:cNvPr id="68" name="Straight Connector 8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B36F74-5E09-4F0B-A5D9-E7BBC217D49F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4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cxnSp>
        <p:nvCxnSpPr>
          <p:cNvPr id="77" name="Straight Connector 11"/>
          <p:cNvCxnSpPr/>
          <p:nvPr/>
        </p:nvCxnSpPr>
        <p:spPr>
          <a:xfrm>
            <a:off x="778680" y="139536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cxnSp>
        <p:nvCxnSpPr>
          <p:cNvPr id="78" name="Straight Connector 14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pic>
        <p:nvPicPr>
          <p:cNvPr id="79" name="Picture 9" descr="A picture containing food&#10;&#10;Description automatically generated"/>
          <p:cNvPicPr/>
          <p:nvPr/>
        </p:nvPicPr>
        <p:blipFill>
          <a:blip r:embed="rId3"/>
          <a:stretch/>
        </p:blipFill>
        <p:spPr>
          <a:xfrm>
            <a:off x="8295840" y="181440"/>
            <a:ext cx="3057480" cy="767520"/>
          </a:xfrm>
          <a:prstGeom prst="rect">
            <a:avLst/>
          </a:prstGeom>
          <a:ln w="0">
            <a:noFill/>
          </a:ln>
        </p:spPr>
      </p:pic>
      <p:pic>
        <p:nvPicPr>
          <p:cNvPr id="80" name="Picture 10" descr="A close up of a logo&#10;&#10;Description automatically generated"/>
          <p:cNvPicPr/>
          <p:nvPr/>
        </p:nvPicPr>
        <p:blipFill>
          <a:blip r:embed="rId4"/>
          <a:stretch/>
        </p:blipFill>
        <p:spPr>
          <a:xfrm>
            <a:off x="3857400" y="120600"/>
            <a:ext cx="3604680" cy="782640"/>
          </a:xfrm>
          <a:prstGeom prst="rect">
            <a:avLst/>
          </a:prstGeom>
          <a:ln w="0">
            <a:noFill/>
          </a:ln>
        </p:spPr>
      </p:pic>
      <p:sp>
        <p:nvSpPr>
          <p:cNvPr id="81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2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AEEFFA-22EE-4CC5-ADAD-F1E391FC0A40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3" r:id="rId5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3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5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</p:spTree>
  </p:cSld>
  <p:clrMap bg1="lt1" bg2="lt2" tx1="dk1" tx2="dk2" accent1="accent1" accent2="accent2" accent3="accent3" accent4="accent4" accent5="accent5" accent6="accent6" hlink="hlink" folHlink="folHlink"/>
  <p:sldLayoutIdLst>
    <p:sldLayoutId id="2147483677" r:id="rId3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cxnSp>
        <p:nvCxnSpPr>
          <p:cNvPr id="87" name="Straight Connector 16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cxnSp>
        <p:nvCxnSpPr>
          <p:cNvPr id="88" name="Straight Connector 17"/>
          <p:cNvCxnSpPr/>
          <p:nvPr/>
        </p:nvCxnSpPr>
        <p:spPr>
          <a:xfrm>
            <a:off x="778680" y="147636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pic>
        <p:nvPicPr>
          <p:cNvPr id="89" name="Picture 9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8179560" y="171360"/>
            <a:ext cx="3604680" cy="782640"/>
          </a:xfrm>
          <a:prstGeom prst="rect">
            <a:avLst/>
          </a:prstGeom>
          <a:ln w="0">
            <a:noFill/>
          </a:ln>
        </p:spPr>
      </p:pic>
      <p:sp>
        <p:nvSpPr>
          <p:cNvPr id="90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A36A86-365B-4435-9C46-1D1C6B60EC6F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9" r:id="rId4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cxnSp>
        <p:nvCxnSpPr>
          <p:cNvPr id="94" name="Straight Connector 9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pic>
        <p:nvPicPr>
          <p:cNvPr id="95" name="Picture 8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8179560" y="171360"/>
            <a:ext cx="3604680" cy="782640"/>
          </a:xfrm>
          <a:prstGeom prst="rect">
            <a:avLst/>
          </a:prstGeom>
          <a:ln w="0">
            <a:noFill/>
          </a:ln>
        </p:spPr>
      </p:pic>
      <p:sp>
        <p:nvSpPr>
          <p:cNvPr id="96" name="PlaceHolder 1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7A1940D-B4E5-4213-89A0-38AF1A7AE1D5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1" r:id="rId4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100" name="Picture 1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pic>
        <p:nvPicPr>
          <p:cNvPr id="101" name="Graphic 5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433480" y="365040"/>
            <a:ext cx="1640880" cy="602280"/>
          </a:xfrm>
          <a:prstGeom prst="rect">
            <a:avLst/>
          </a:prstGeom>
          <a:ln w="0">
            <a:noFill/>
          </a:ln>
        </p:spPr>
      </p:pic>
      <p:sp>
        <p:nvSpPr>
          <p:cNvPr id="102" name="PlaceHolder 1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857BAD-3E1F-46C3-80DC-EEA1A4B94165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04" name="PlaceHolder 3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3" r:id="rId6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106" name="Picture 15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07" name="Rectangle 8"/>
          <p:cNvSpPr/>
          <p:nvPr/>
        </p:nvSpPr>
        <p:spPr>
          <a:xfrm>
            <a:off x="0" y="0"/>
            <a:ext cx="5255640" cy="6857280"/>
          </a:xfrm>
          <a:prstGeom prst="rect">
            <a:avLst/>
          </a:prstGeom>
          <a:solidFill>
            <a:srgbClr val="a7c94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SE" sz="1800" spc="-1" strike="noStrike">
              <a:solidFill>
                <a:schemeClr val="lt1"/>
              </a:solidFill>
              <a:latin typeface="Calibri"/>
            </a:endParaRPr>
          </a:p>
        </p:txBody>
      </p:sp>
      <p:pic>
        <p:nvPicPr>
          <p:cNvPr id="108" name="Graphic 9" descr=""/>
          <p:cNvPicPr/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/>
        </p:blipFill>
        <p:spPr>
          <a:xfrm>
            <a:off x="5433480" y="365040"/>
            <a:ext cx="1640880" cy="602280"/>
          </a:xfrm>
          <a:prstGeom prst="rect">
            <a:avLst/>
          </a:prstGeom>
          <a:ln w="0">
            <a:noFill/>
          </a:ln>
        </p:spPr>
      </p:pic>
      <p:sp>
        <p:nvSpPr>
          <p:cNvPr id="109" name="PlaceHolder 1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232AB4-F453-473D-89AE-5963ED12D6E8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5" r:id="rId6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cxnSp>
        <p:nvCxnSpPr>
          <p:cNvPr id="113" name="Straight Connector 18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pic>
        <p:nvPicPr>
          <p:cNvPr id="114" name="Picture 19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15" name="PlaceHolder 1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3DEE4D-196A-4003-83D9-51FAAACEF78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7" r:id="rId4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8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cxnSp>
        <p:nvCxnSpPr>
          <p:cNvPr id="119" name="Straight Connector 18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pic>
        <p:nvPicPr>
          <p:cNvPr id="120" name="Picture 19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CEA8F86-C47D-47E2-8048-605B81D9AFFD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9" r:id="rId4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Picture 6" descr=""/>
          <p:cNvPicPr/>
          <p:nvPr/>
        </p:nvPicPr>
        <p:blipFill>
          <a:blip r:embed="rId2"/>
          <a:stretch/>
        </p:blipFill>
        <p:spPr>
          <a:xfrm>
            <a:off x="211680" y="238680"/>
            <a:ext cx="1639440" cy="880200"/>
          </a:xfrm>
          <a:prstGeom prst="rect">
            <a:avLst/>
          </a:prstGeom>
          <a:ln w="0">
            <a:noFill/>
          </a:ln>
        </p:spPr>
      </p:pic>
      <p:pic>
        <p:nvPicPr>
          <p:cNvPr id="125" name="Picture 24" descr="A picture containing light&#10;&#10;Description automatically generated"/>
          <p:cNvPicPr/>
          <p:nvPr/>
        </p:nvPicPr>
        <p:blipFill>
          <a:blip r:embed="rId3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26" name="PlaceHolder 1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7" name="PlaceHolder 2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23124DE-A511-496C-926E-2680B2D82221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1" r:id="rId4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e7e6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9" descr="A picture containing food&#10;&#10;Description automatically generated"/>
          <p:cNvPicPr/>
          <p:nvPr/>
        </p:nvPicPr>
        <p:blipFill>
          <a:blip r:embed="rId2"/>
          <a:stretch/>
        </p:blipFill>
        <p:spPr>
          <a:xfrm>
            <a:off x="8295840" y="486360"/>
            <a:ext cx="3057480" cy="76752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0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778680" y="486360"/>
            <a:ext cx="3604680" cy="782640"/>
          </a:xfrm>
          <a:prstGeom prst="rect">
            <a:avLst/>
          </a:prstGeom>
          <a:ln w="0">
            <a:noFill/>
          </a:ln>
        </p:spPr>
      </p:pic>
      <p:cxnSp>
        <p:nvCxnSpPr>
          <p:cNvPr id="133" name="Straight Connector 7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sp>
        <p:nvSpPr>
          <p:cNvPr id="134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BABC4D6-B9A5-4FA8-976D-DEB3E7F0762E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37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3" r:id="rId4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Picture 2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41" name="Straight Connector 25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42" name="PlaceHolder 1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B387BD0-4F18-4A13-82A0-D84E8392E17E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5" r:id="rId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Picture 12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46" name="Straight Connector 13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47" name="PlaceHolder 1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60D00CE-1907-4507-B154-F75FD920983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49" name="PlaceHolder 3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7" r:id="rId3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Picture 12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51" name="Straight Connector 13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52" name="PlaceHolder 1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D6EDC9-D5FD-4013-A878-1CD72B0E36BE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99" r:id="rId3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Picture 16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56" name="Straight Connector 17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57" name="PlaceHolder 1"/>
          <p:cNvSpPr>
            <a:spLocks noGrp="1"/>
          </p:cNvSpPr>
          <p:nvPr>
            <p:ph type="ftr" idx="7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sldNum" idx="7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F578BFE-964D-4364-8A51-A24672D76DB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3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Picture 1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61" name="Straight Connector 15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62" name="PlaceHolder 1"/>
          <p:cNvSpPr>
            <a:spLocks noGrp="1"/>
          </p:cNvSpPr>
          <p:nvPr>
            <p:ph type="ftr" idx="7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3" name="PlaceHolder 2"/>
          <p:cNvSpPr>
            <a:spLocks noGrp="1"/>
          </p:cNvSpPr>
          <p:nvPr>
            <p:ph type="sldNum" idx="7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32B21C8-5F58-49B3-A735-35039023DBDB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4" name="PlaceHolder 3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3" r:id="rId3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Picture 1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166" name="Straight Connector 15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167" name="PlaceHolder 1"/>
          <p:cNvSpPr>
            <a:spLocks noGrp="1"/>
          </p:cNvSpPr>
          <p:nvPr>
            <p:ph type="ftr" idx="7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ldNum" idx="8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12A6B6-BAF1-4EB7-A5E8-D79798B5B74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9" name="PlaceHolder 3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5" r:id="rId3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0" name="Picture 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71" name="PlaceHolder 1"/>
          <p:cNvSpPr>
            <a:spLocks noGrp="1"/>
          </p:cNvSpPr>
          <p:nvPr>
            <p:ph type="ftr" idx="8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 type="sldNum" idx="8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6EB851C-92D8-40CB-8364-E7C5A941BCA4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7" r:id="rId3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" name="Picture 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75" name="PlaceHolder 1"/>
          <p:cNvSpPr>
            <a:spLocks noGrp="1"/>
          </p:cNvSpPr>
          <p:nvPr>
            <p:ph type="ftr" idx="8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8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46EA38-223D-4B9C-B866-14D715AF842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9" r:id="rId3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8" name="Picture 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79" name="PlaceHolder 1"/>
          <p:cNvSpPr>
            <a:spLocks noGrp="1"/>
          </p:cNvSpPr>
          <p:nvPr>
            <p:ph type="ftr" idx="8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0" name="PlaceHolder 2"/>
          <p:cNvSpPr>
            <a:spLocks noGrp="1"/>
          </p:cNvSpPr>
          <p:nvPr>
            <p:ph type="sldNum" idx="8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73406A0-9365-4702-81D1-B651F60824FC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1" name="PlaceHolder 3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1" r:id="rId3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Picture 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183" name="PlaceHolder 1"/>
          <p:cNvSpPr>
            <a:spLocks noGrp="1"/>
          </p:cNvSpPr>
          <p:nvPr>
            <p:ph type="ftr" idx="91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4" name="PlaceHolder 2"/>
          <p:cNvSpPr>
            <a:spLocks noGrp="1"/>
          </p:cNvSpPr>
          <p:nvPr>
            <p:ph type="sldNum" idx="92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BFF446D-0E58-4254-B30A-3E9B2E49BE2E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3" r:id="rId3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6" name="Picture 7" descr="A close up of a logo&#10;&#10;Description automatically generated"/>
          <p:cNvPicPr/>
          <p:nvPr/>
        </p:nvPicPr>
        <p:blipFill>
          <a:blip r:embed="rId2"/>
          <a:stretch/>
        </p:blipFill>
        <p:spPr>
          <a:xfrm>
            <a:off x="778680" y="486360"/>
            <a:ext cx="3604680" cy="782640"/>
          </a:xfrm>
          <a:prstGeom prst="rect">
            <a:avLst/>
          </a:prstGeom>
          <a:ln w="0">
            <a:noFill/>
          </a:ln>
        </p:spPr>
      </p:pic>
      <p:cxnSp>
        <p:nvCxnSpPr>
          <p:cNvPr id="187" name="Straight Connector 8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ftr" idx="94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sldNum" idx="95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F70D41B-707B-46A2-9F72-25E6777D7639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5" r:id="rId3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4" name="Straight Connector 11"/>
          <p:cNvCxnSpPr/>
          <p:nvPr/>
        </p:nvCxnSpPr>
        <p:spPr>
          <a:xfrm>
            <a:off x="778680" y="139536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pic>
        <p:nvPicPr>
          <p:cNvPr id="195" name="Picture 12" descr="A picture containing food&#10;&#10;Description automatically generated"/>
          <p:cNvPicPr/>
          <p:nvPr/>
        </p:nvPicPr>
        <p:blipFill>
          <a:blip r:embed="rId2"/>
          <a:stretch/>
        </p:blipFill>
        <p:spPr>
          <a:xfrm>
            <a:off x="8295840" y="486360"/>
            <a:ext cx="3057480" cy="767520"/>
          </a:xfrm>
          <a:prstGeom prst="rect">
            <a:avLst/>
          </a:prstGeom>
          <a:ln w="0">
            <a:noFill/>
          </a:ln>
        </p:spPr>
      </p:pic>
      <p:pic>
        <p:nvPicPr>
          <p:cNvPr id="196" name="Picture 13" descr="A close up of a logo&#10;&#10;Description automatically generated"/>
          <p:cNvPicPr/>
          <p:nvPr/>
        </p:nvPicPr>
        <p:blipFill>
          <a:blip r:embed="rId3"/>
          <a:stretch/>
        </p:blipFill>
        <p:spPr>
          <a:xfrm>
            <a:off x="778680" y="486360"/>
            <a:ext cx="3604680" cy="782640"/>
          </a:xfrm>
          <a:prstGeom prst="rect">
            <a:avLst/>
          </a:prstGeom>
          <a:ln w="0">
            <a:noFill/>
          </a:ln>
        </p:spPr>
      </p:pic>
      <p:cxnSp>
        <p:nvCxnSpPr>
          <p:cNvPr id="197" name="Straight Connector 14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sp>
        <p:nvSpPr>
          <p:cNvPr id="198" name="PlaceHolder 1"/>
          <p:cNvSpPr>
            <a:spLocks noGrp="1"/>
          </p:cNvSpPr>
          <p:nvPr>
            <p:ph type="ftr" idx="97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 type="sldNum" idx="98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1F962B-B2A1-4B90-BC2D-442E7EDEF703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7" r:id="rId4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1" name="Picture 15" descr="A close up of a logo&#10;&#10;Description automatically generated"/>
          <p:cNvPicPr/>
          <p:nvPr/>
        </p:nvPicPr>
        <p:blipFill>
          <a:blip r:embed="rId2"/>
          <a:stretch/>
        </p:blipFill>
        <p:spPr>
          <a:xfrm>
            <a:off x="778680" y="486360"/>
            <a:ext cx="3604680" cy="782640"/>
          </a:xfrm>
          <a:prstGeom prst="rect">
            <a:avLst/>
          </a:prstGeom>
          <a:ln w="0">
            <a:noFill/>
          </a:ln>
        </p:spPr>
      </p:pic>
      <p:cxnSp>
        <p:nvCxnSpPr>
          <p:cNvPr id="202" name="Straight Connector 16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cxnSp>
        <p:nvCxnSpPr>
          <p:cNvPr id="203" name="Straight Connector 17"/>
          <p:cNvCxnSpPr/>
          <p:nvPr/>
        </p:nvCxnSpPr>
        <p:spPr>
          <a:xfrm>
            <a:off x="778680" y="147636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204" name="PlaceHolder 1"/>
          <p:cNvSpPr>
            <a:spLocks noGrp="1"/>
          </p:cNvSpPr>
          <p:nvPr>
            <p:ph type="ftr" idx="100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5" name="PlaceHolder 2"/>
          <p:cNvSpPr>
            <a:spLocks noGrp="1"/>
          </p:cNvSpPr>
          <p:nvPr>
            <p:ph type="sldNum" idx="101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9FFE8C9-0803-45EE-9EE4-E617CDDB8167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9" r:id="rId3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7" name="Picture 7" descr="A close up of a logo&#10;&#10;Description automatically generated"/>
          <p:cNvPicPr/>
          <p:nvPr/>
        </p:nvPicPr>
        <p:blipFill>
          <a:blip r:embed="rId2"/>
          <a:stretch/>
        </p:blipFill>
        <p:spPr>
          <a:xfrm>
            <a:off x="778680" y="486360"/>
            <a:ext cx="3604680" cy="782640"/>
          </a:xfrm>
          <a:prstGeom prst="rect">
            <a:avLst/>
          </a:prstGeom>
          <a:ln w="0">
            <a:noFill/>
          </a:ln>
        </p:spPr>
      </p:pic>
      <p:cxnSp>
        <p:nvCxnSpPr>
          <p:cNvPr id="208" name="Straight Connector 9"/>
          <p:cNvCxnSpPr/>
          <p:nvPr/>
        </p:nvCxnSpPr>
        <p:spPr>
          <a:xfrm flipH="1">
            <a:off x="0" y="6811560"/>
            <a:ext cx="12192480" cy="720"/>
          </a:xfrm>
          <a:prstGeom prst="straightConnector1">
            <a:avLst/>
          </a:prstGeom>
          <a:ln w="101600">
            <a:solidFill>
              <a:srgbClr val="a7c947"/>
            </a:solidFill>
            <a:round/>
          </a:ln>
        </p:spPr>
      </p:cxnSp>
      <p:sp>
        <p:nvSpPr>
          <p:cNvPr id="209" name="PlaceHolder 1"/>
          <p:cNvSpPr>
            <a:spLocks noGrp="1"/>
          </p:cNvSpPr>
          <p:nvPr>
            <p:ph type="ftr" idx="103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0" name="PlaceHolder 2"/>
          <p:cNvSpPr>
            <a:spLocks noGrp="1"/>
          </p:cNvSpPr>
          <p:nvPr>
            <p:ph type="sldNum" idx="104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C20B17B-B567-47BA-A546-210886483648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1" name="PlaceHolder 3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1" r:id="rId3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Picture 1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213" name="PlaceHolder 1"/>
          <p:cNvSpPr>
            <a:spLocks noGrp="1"/>
          </p:cNvSpPr>
          <p:nvPr>
            <p:ph type="ftr" idx="106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4" name="PlaceHolder 2"/>
          <p:cNvSpPr>
            <a:spLocks noGrp="1"/>
          </p:cNvSpPr>
          <p:nvPr>
            <p:ph type="sldNum" idx="107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6F757B2-E1B8-44C8-9AA0-1F7FD01531CA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5" name="PlaceHolder 3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3" r:id="rId3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Picture 15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217" name="Rectangle 8"/>
          <p:cNvSpPr/>
          <p:nvPr/>
        </p:nvSpPr>
        <p:spPr>
          <a:xfrm>
            <a:off x="0" y="0"/>
            <a:ext cx="5255640" cy="685728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b="0" lang="en-SE" sz="1800" spc="-1" strike="noStrike">
              <a:solidFill>
                <a:schemeClr val="lt1"/>
              </a:solidFill>
              <a:latin typeface="Calibri"/>
            </a:endParaRPr>
          </a:p>
        </p:txBody>
      </p:sp>
      <p:sp>
        <p:nvSpPr>
          <p:cNvPr id="218" name="PlaceHolder 1"/>
          <p:cNvSpPr>
            <a:spLocks noGrp="1"/>
          </p:cNvSpPr>
          <p:nvPr>
            <p:ph type="ftr" idx="109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 type="sldNum" idx="110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DB3D859-CB01-4F20-94C1-DF4001F32211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 type="dt" idx="111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5" r:id="rId3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" name="Straight Connector 18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pic>
        <p:nvPicPr>
          <p:cNvPr id="222" name="Picture 19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223" name="PlaceHolder 1"/>
          <p:cNvSpPr>
            <a:spLocks noGrp="1"/>
          </p:cNvSpPr>
          <p:nvPr>
            <p:ph type="ftr" idx="112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 type="sldNum" idx="113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9F8C29-738F-448C-8124-4061C3E035F6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 type="dt" idx="114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3"/>
  </p:sldLayoutIdLst>
</p:sldMaster>
</file>

<file path=ppt/slideMasters/slideMaster4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6" name="Straight Connector 18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pic>
        <p:nvPicPr>
          <p:cNvPr id="227" name="Picture 19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sp>
        <p:nvSpPr>
          <p:cNvPr id="228" name="PlaceHolder 1"/>
          <p:cNvSpPr>
            <a:spLocks noGrp="1"/>
          </p:cNvSpPr>
          <p:nvPr>
            <p:ph type="ftr" idx="115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29" name="PlaceHolder 2"/>
          <p:cNvSpPr>
            <a:spLocks noGrp="1"/>
          </p:cNvSpPr>
          <p:nvPr>
            <p:ph type="sldNum" idx="116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A9EB8D-6DEC-48FC-9DEA-A3C443653D70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0" name="PlaceHolder 3"/>
          <p:cNvSpPr>
            <a:spLocks noGrp="1"/>
          </p:cNvSpPr>
          <p:nvPr>
            <p:ph type="dt" idx="117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9" r:id="rId3"/>
  </p:sldLayoutIdLst>
</p:sldMaster>
</file>

<file path=ppt/slideMasters/slideMaster4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1" name="Picture 24" descr="A picture containing light&#10;&#10;Description automatically generated"/>
          <p:cNvPicPr/>
          <p:nvPr/>
        </p:nvPicPr>
        <p:blipFill>
          <a:blip r:embed="rId2"/>
          <a:stretch/>
        </p:blipFill>
        <p:spPr>
          <a:xfrm>
            <a:off x="10914840" y="365040"/>
            <a:ext cx="876960" cy="829440"/>
          </a:xfrm>
          <a:prstGeom prst="rect">
            <a:avLst/>
          </a:prstGeom>
          <a:ln w="0">
            <a:noFill/>
          </a:ln>
        </p:spPr>
      </p:pic>
      <p:cxnSp>
        <p:nvCxnSpPr>
          <p:cNvPr id="232" name="Straight Connector 25"/>
          <p:cNvCxnSpPr/>
          <p:nvPr/>
        </p:nvCxnSpPr>
        <p:spPr>
          <a:xfrm>
            <a:off x="828000" y="1221480"/>
            <a:ext cx="10516320" cy="720"/>
          </a:xfrm>
          <a:prstGeom prst="straightConnector1">
            <a:avLst/>
          </a:prstGeom>
          <a:ln w="12700">
            <a:solidFill>
              <a:srgbClr val="a7c947"/>
            </a:solidFill>
            <a:round/>
          </a:ln>
        </p:spPr>
      </p:cxnSp>
      <p:sp>
        <p:nvSpPr>
          <p:cNvPr id="233" name="PlaceHolder 1"/>
          <p:cNvSpPr>
            <a:spLocks noGrp="1"/>
          </p:cNvSpPr>
          <p:nvPr>
            <p:ph type="ftr" idx="118"/>
          </p:nvPr>
        </p:nvSpPr>
        <p:spPr>
          <a:xfrm>
            <a:off x="4038480" y="6356520"/>
            <a:ext cx="41140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4" name="PlaceHolder 2"/>
          <p:cNvSpPr>
            <a:spLocks noGrp="1"/>
          </p:cNvSpPr>
          <p:nvPr>
            <p:ph type="sldNum" idx="119"/>
          </p:nvPr>
        </p:nvSpPr>
        <p:spPr>
          <a:xfrm>
            <a:off x="86104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114808-20B5-426E-89A4-2FEAA92D7421}" type="slidenum">
              <a:rPr b="0" lang="en-SE" sz="1200" spc="-1" strike="noStrike">
                <a:solidFill>
                  <a:schemeClr val="dk1">
                    <a:tint val="75000"/>
                  </a:schemeClr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5" name="PlaceHolder 3"/>
          <p:cNvSpPr>
            <a:spLocks noGrp="1"/>
          </p:cNvSpPr>
          <p:nvPr>
            <p:ph type="dt" idx="120"/>
          </p:nvPr>
        </p:nvSpPr>
        <p:spPr>
          <a:xfrm>
            <a:off x="838080" y="6356520"/>
            <a:ext cx="274248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31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slideLayout" Target="../slideLayouts/slideLayout2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hyperlink" Target="https://www.bioinformatics.babraham.ac.uk/projects/fastqc/" TargetMode="External"/><Relationship Id="rId2" Type="http://schemas.openxmlformats.org/officeDocument/2006/relationships/hyperlink" Target="https://www.bioinformatics.babraham.ac.uk/projects/fastqc/Help/3%20Analysis%20Modules/2%20Per%20Base%20Sequence%20Quality.html" TargetMode="External"/><Relationship Id="rId3" Type="http://schemas.openxmlformats.org/officeDocument/2006/relationships/hyperlink" Target="https://seqera.io/multiqc/" TargetMode="External"/><Relationship Id="rId4" Type="http://schemas.openxmlformats.org/officeDocument/2006/relationships/hyperlink" Target="https://seqera.io/examples/ngi-rna/test_ngi_project_multiqc_report.html" TargetMode="External"/><Relationship Id="rId5" Type="http://schemas.openxmlformats.org/officeDocument/2006/relationships/slideLayout" Target="../slideLayouts/slideLayout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594000" y="1188720"/>
            <a:ext cx="11003040" cy="2239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6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Quality Control of NGS data</a:t>
            </a:r>
            <a:endParaRPr b="0" lang="en-US" sz="6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3" name="PlaceHolder 1"/>
          <p:cNvSpPr>
            <a:spLocks noGrp="1"/>
          </p:cNvSpPr>
          <p:nvPr>
            <p:ph/>
          </p:nvPr>
        </p:nvSpPr>
        <p:spPr>
          <a:xfrm>
            <a:off x="838080" y="1486800"/>
            <a:ext cx="10514880" cy="4689360"/>
          </a:xfrm>
          <a:prstGeom prst="rect">
            <a:avLst/>
          </a:prstGeom>
          <a:ln w="0">
            <a:noFill/>
          </a:ln>
        </p:spPr>
        <p:txBody>
          <a:bodyPr lIns="91440" rIns="91440" tIns="45720" bIns="45720" anchor="t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@HWUSI-EAS100R:6:73:941:1973#0/1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GATTTGGGGTTCAAAGCAGTATCGATCAAATAGTAAATCCATTTGTTCAACTCACAGTTT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+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rgbClr val="ff0000"/>
                </a:solidFill>
                <a:latin typeface="Courier New"/>
              </a:rPr>
              <a:t>!''*((((***+))%%%++)(%%%%).1***-+*''))**55CCF&gt;&gt;&gt;&gt;&gt;&gt;CCCCCCC65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1: An “@” followed by a sequence identifier (machine ID, x-y coordinates, ...)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2: The nucleotide sequence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3: A “+” optionally followed by the sequence identifier again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Line 4: Encoded quality scores, one for each base in the read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Aft>
                <a:spcPts val="544"/>
              </a:spcAft>
              <a:buNone/>
              <a:tabLst>
                <a:tab algn="l" pos="0"/>
              </a:tabLst>
            </a:pP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Aft>
                <a:spcPts val="54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Bad nucleotides are sometimes written as N (“unknown”, “any”)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Aft>
                <a:spcPts val="54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Character “!” is quality zero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defTabSz="914400">
              <a:lnSpc>
                <a:spcPct val="90000"/>
              </a:lnSpc>
              <a:spcAft>
                <a:spcPts val="544"/>
              </a:spcAft>
              <a:buClr>
                <a:srgbClr val="000000"/>
              </a:buClr>
              <a:buSzPct val="45000"/>
              <a:buFont typeface="Wingdings" charset="2"/>
              <a:buChar char=""/>
              <a:tabLst>
                <a:tab algn="l" pos="0"/>
              </a:tabLst>
            </a:pPr>
            <a:r>
              <a:rPr b="0" lang="en-GB" sz="19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If you see an uppercase character, the quality is ok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FASTQ files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PlaceHolder 1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Phred quality scores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6" name="Picture 2" descr=""/>
          <p:cNvPicPr/>
          <p:nvPr/>
        </p:nvPicPr>
        <p:blipFill>
          <a:blip r:embed="rId1"/>
          <a:stretch/>
        </p:blipFill>
        <p:spPr>
          <a:xfrm>
            <a:off x="2552400" y="1525680"/>
            <a:ext cx="7266600" cy="5064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/>
          </p:nvPr>
        </p:nvSpPr>
        <p:spPr>
          <a:xfrm>
            <a:off x="1757520" y="2577960"/>
            <a:ext cx="1051488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Bad qualities:</a:t>
            </a: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	</a:t>
            </a: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	</a:t>
            </a:r>
            <a:r>
              <a:rPr b="0" lang="en-US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       Good qualities: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FastQC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49" name="Bildobjekt 5" descr=""/>
          <p:cNvPicPr/>
          <p:nvPr/>
        </p:nvPicPr>
        <p:blipFill>
          <a:blip r:embed="rId1"/>
          <a:srcRect l="0" t="0" r="0" b="82155"/>
          <a:stretch/>
        </p:blipFill>
        <p:spPr>
          <a:xfrm>
            <a:off x="1757520" y="1496520"/>
            <a:ext cx="8657640" cy="1045080"/>
          </a:xfrm>
          <a:prstGeom prst="rect">
            <a:avLst/>
          </a:prstGeom>
          <a:ln w="0">
            <a:noFill/>
          </a:ln>
        </p:spPr>
      </p:pic>
      <p:pic>
        <p:nvPicPr>
          <p:cNvPr id="250" name="Picture 3" descr="fastqc5.png"/>
          <p:cNvPicPr/>
          <p:nvPr/>
        </p:nvPicPr>
        <p:blipFill>
          <a:blip r:embed="rId2"/>
          <a:stretch/>
        </p:blipFill>
        <p:spPr>
          <a:xfrm>
            <a:off x="1775880" y="3256200"/>
            <a:ext cx="4251960" cy="3188880"/>
          </a:xfrm>
          <a:prstGeom prst="rect">
            <a:avLst/>
          </a:prstGeom>
          <a:ln w="0">
            <a:solidFill>
              <a:srgbClr val="000000"/>
            </a:solidFill>
          </a:ln>
        </p:spPr>
      </p:pic>
      <p:pic>
        <p:nvPicPr>
          <p:cNvPr id="251" name="Picture 4" descr="fastqc1.png"/>
          <p:cNvPicPr/>
          <p:nvPr/>
        </p:nvPicPr>
        <p:blipFill>
          <a:blip r:embed="rId3"/>
          <a:stretch/>
        </p:blipFill>
        <p:spPr>
          <a:xfrm>
            <a:off x="6158520" y="3255120"/>
            <a:ext cx="4257000" cy="3192480"/>
          </a:xfrm>
          <a:prstGeom prst="rect">
            <a:avLst/>
          </a:prstGeom>
          <a:ln w="0">
            <a:solidFill>
              <a:srgbClr val="000000"/>
            </a:solidFill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PlaceHolder 1"/>
          <p:cNvSpPr>
            <a:spLocks noGrp="1"/>
          </p:cNvSpPr>
          <p:nvPr>
            <p:ph/>
          </p:nvPr>
        </p:nvSpPr>
        <p:spPr>
          <a:xfrm>
            <a:off x="914760" y="1371600"/>
            <a:ext cx="1051488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Low-quality read ends may introduce spurious variant calls or other problems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A tool to trim these is Cutadapt. For 3' trimming, run:</a:t>
            </a:r>
            <a:br>
              <a:rPr sz="2800"/>
            </a:br>
            <a:r>
              <a:rPr b="0" lang="en-SE" sz="2400" spc="-1" strike="noStrike">
                <a:solidFill>
                  <a:schemeClr val="lt2">
                    <a:lumMod val="10000"/>
                  </a:schemeClr>
                </a:solidFill>
                <a:latin typeface="Courier Std"/>
                <a:ea typeface="Noto Sans CJK SC"/>
              </a:rPr>
              <a:t>cutadapt -q 20 -o output.fastq.gz input.fastq.gz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Removes ends with quality less than 20 (you choose)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5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Often not needed because read aligners should handle it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(Cutadapt can also remove adapters and primers)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50000"/>
              </a:lnSpc>
              <a:spcBef>
                <a:spcPts val="1417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3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Quality trimming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PlaceHolder 1"/>
          <p:cNvSpPr>
            <a:spLocks noGrp="1"/>
          </p:cNvSpPr>
          <p:nvPr>
            <p:ph/>
          </p:nvPr>
        </p:nvSpPr>
        <p:spPr>
          <a:xfrm>
            <a:off x="914760" y="1371600"/>
            <a:ext cx="1051488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Gathers output from other bioinformatics tools and generates a single report for all samples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SE" sz="2800" spc="-1" strike="noStrike">
                <a:solidFill>
                  <a:schemeClr val="lt2">
                    <a:lumMod val="10000"/>
                  </a:schemeClr>
                </a:solidFill>
                <a:latin typeface="Arial"/>
                <a:ea typeface="Noto Sans CJK SC"/>
              </a:rPr>
              <a:t>Example NGI report: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4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MultiQC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56" name="" descr=""/>
          <p:cNvPicPr/>
          <p:nvPr/>
        </p:nvPicPr>
        <p:blipFill>
          <a:blip r:embed="rId1"/>
          <a:stretch/>
        </p:blipFill>
        <p:spPr>
          <a:xfrm>
            <a:off x="0" y="2945160"/>
            <a:ext cx="12191400" cy="39124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/>
          </p:nvPr>
        </p:nvSpPr>
        <p:spPr>
          <a:xfrm>
            <a:off x="838080" y="1486800"/>
            <a:ext cx="1051488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Different NGS application have their own problem areas and require their own QC strategy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Today: Focus on QC for whole genome sequencing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For variant calling, it is important to look at quality score distribution, sequence length distribution and duplication levels. 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  <a:tabLst>
                <a:tab algn="l" pos="0"/>
              </a:tabLst>
            </a:pPr>
            <a:r>
              <a:rPr b="0" lang="en-GB" sz="28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Thursday: More details on QC for RNA-seq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What is QC?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/>
          </p:nvPr>
        </p:nvSpPr>
        <p:spPr>
          <a:xfrm>
            <a:off x="838080" y="1486800"/>
            <a:ext cx="10514880" cy="4689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 u="sng">
                <a:solidFill>
                  <a:schemeClr val="lt2">
                    <a:lumMod val="10000"/>
                  </a:schemeClr>
                </a:solidFill>
                <a:uFillTx/>
                <a:latin typeface="Arial"/>
                <a:hlinkClick r:id="rId1"/>
              </a:rPr>
              <a:t>FastQC homepage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 u="sng">
                <a:solidFill>
                  <a:schemeClr val="lt2">
                    <a:lumMod val="10000"/>
                  </a:schemeClr>
                </a:solidFill>
                <a:uFillTx/>
                <a:latin typeface="Arial"/>
                <a:hlinkClick r:id="rId2"/>
              </a:rPr>
              <a:t>Explanation of FastQC’s sequence quality plot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 u="sng">
                <a:solidFill>
                  <a:schemeClr val="lt2">
                    <a:lumMod val="10000"/>
                  </a:schemeClr>
                </a:solidFill>
                <a:uFillTx/>
                <a:latin typeface="Arial"/>
                <a:hlinkClick r:id="rId3"/>
              </a:rPr>
              <a:t>MultiQC homepage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417"/>
              </a:spcBef>
              <a:buClr>
                <a:srgbClr val="181717"/>
              </a:buClr>
              <a:buFont typeface="Arial"/>
              <a:buChar char="•"/>
            </a:pPr>
            <a:r>
              <a:rPr b="0" lang="en-GB" sz="2800" spc="-1" strike="noStrike" u="sng">
                <a:solidFill>
                  <a:schemeClr val="lt2">
                    <a:lumMod val="10000"/>
                  </a:schemeClr>
                </a:solidFill>
                <a:uFillTx/>
                <a:latin typeface="Arial"/>
                <a:hlinkClick r:id="rId4"/>
              </a:rPr>
              <a:t>MultiQC example report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2"/>
          <p:cNvSpPr>
            <a:spLocks noGrp="1"/>
          </p:cNvSpPr>
          <p:nvPr>
            <p:ph type="title"/>
          </p:nvPr>
        </p:nvSpPr>
        <p:spPr>
          <a:xfrm>
            <a:off x="2463120" y="365040"/>
            <a:ext cx="7912440" cy="829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GB" sz="4000" spc="-1" strike="noStrike">
                <a:solidFill>
                  <a:schemeClr val="lt2">
                    <a:lumMod val="10000"/>
                  </a:schemeClr>
                </a:solidFill>
                <a:latin typeface="Arial"/>
              </a:rPr>
              <a:t>Links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9" dur="indefinite" restart="never" nodeType="tmRoot">
          <p:childTnLst>
            <p:seq>
              <p:cTn id="20" dur="indefinite" nodeType="mainSeq">
                <p:childTnLst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nodeType="clickEffect" fill="hold" presetClass="entr" presetID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SciLifeLab PPT_light">
  <a:themeElements>
    <a:clrScheme name="Custom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2.xml><?xml version="1.0" encoding="utf-8"?>
<a:theme xmlns:a="http://schemas.openxmlformats.org/drawingml/2006/main" xmlns:r="http://schemas.openxmlformats.org/officeDocument/2006/relationships" name="SciLifeLab PPT_dark">
  <a:themeElements>
    <a:clrScheme name="SciLifeLab Colors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a7c947"/>
      </a:accent1>
      <a:accent2>
        <a:srgbClr val="045c64"/>
      </a:accent2>
      <a:accent3>
        <a:srgbClr val="4c979f"/>
      </a:accent3>
      <a:accent4>
        <a:srgbClr val="491f53"/>
      </a:accent4>
      <a:accent5>
        <a:srgbClr val="e5e5e5"/>
      </a:accent5>
      <a:accent6>
        <a:srgbClr val="a6a6a6"/>
      </a:accent6>
      <a:hlink>
        <a:srgbClr val="045b63"/>
      </a:hlink>
      <a:folHlink>
        <a:srgbClr val="045c64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SciLifeLab PPT_light</Template>
  <TotalTime>4373</TotalTime>
  <Application>LibreOffice/24.2.7.2$Linux_X86_64 LibreOffice_project/420$Build-2</Application>
  <AppVersion>15.0000</AppVersion>
  <Words>156</Words>
  <Paragraphs>28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2022-03-24T07:58:12Z</dcterms:created>
  <dc:creator>Malin Larsson</dc:creator>
  <dc:description/>
  <dc:language>en-US</dc:language>
  <cp:lastModifiedBy>Marcel Martin</cp:lastModifiedBy>
  <dcterms:modified xsi:type="dcterms:W3CDTF">2026-03-02T14:57:35Z</dcterms:modified>
  <cp:revision>10</cp:revision>
  <dc:subject/>
  <dc:title>Quality Control of NGS data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2</vt:i4>
  </property>
  <property fmtid="{D5CDD505-2E9C-101B-9397-08002B2CF9AE}" pid="3" name="PresentationFormat">
    <vt:lpwstr>Widescreen</vt:lpwstr>
  </property>
  <property fmtid="{D5CDD505-2E9C-101B-9397-08002B2CF9AE}" pid="4" name="Slides">
    <vt:i4>7</vt:i4>
  </property>
</Properties>
</file>