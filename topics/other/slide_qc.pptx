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8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10.xml" ContentType="application/vnd.openxmlformats-officedocument.theme+xml"/>
  <Override PartName="/ppt/theme/theme36.xml" ContentType="application/vnd.openxmlformats-officedocument.theme+xml"/>
  <Override PartName="/ppt/theme/theme9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40.xml" ContentType="application/vnd.openxmlformats-officedocument.theme+xml"/>
  <Override PartName="/ppt/theme/theme39.xml" ContentType="application/vnd.openxmlformats-officedocument.theme+xml"/>
  <Override PartName="/ppt/theme/theme41.xml" ContentType="application/vnd.openxmlformats-officedocument.theme+xml"/>
  <Override PartName="/ppt/theme/theme35.xml" ContentType="application/vnd.openxmlformats-officedocument.theme+xml"/>
  <Override PartName="/ppt/theme/theme8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34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12.xml" ContentType="application/vnd.openxmlformats-officedocument.theme+xml"/>
  <Override PartName="/ppt/theme/theme11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svg" ContentType="image/svg"/>
  <Override PartName="/ppt/media/image9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0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slideLayout22.xml" ContentType="application/vnd.openxmlformats-officedocument.presentationml.slideLayout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3" r:id="rId24"/>
    <p:sldMasterId id="2147483695" r:id="rId25"/>
    <p:sldMasterId id="2147483697" r:id="rId26"/>
    <p:sldMasterId id="2147483699" r:id="rId27"/>
    <p:sldMasterId id="2147483701" r:id="rId28"/>
    <p:sldMasterId id="2147483703" r:id="rId29"/>
    <p:sldMasterId id="2147483705" r:id="rId30"/>
    <p:sldMasterId id="2147483707" r:id="rId31"/>
    <p:sldMasterId id="2147483709" r:id="rId32"/>
    <p:sldMasterId id="2147483711" r:id="rId33"/>
    <p:sldMasterId id="2147483713" r:id="rId34"/>
    <p:sldMasterId id="2147483715" r:id="rId35"/>
    <p:sldMasterId id="2147483717" r:id="rId36"/>
    <p:sldMasterId id="2147483719" r:id="rId37"/>
    <p:sldMasterId id="2147483721" r:id="rId38"/>
    <p:sldMasterId id="2147483723" r:id="rId39"/>
    <p:sldMasterId id="2147483725" r:id="rId40"/>
    <p:sldMasterId id="2147483727" r:id="rId41"/>
    <p:sldMasterId id="2147483729" r:id="rId42"/>
    <p:sldMasterId id="2147483731" r:id="rId43"/>
  </p:sldMasterIdLst>
  <p:notesMasterIdLst>
    <p:notesMasterId r:id="rId44"/>
  </p:notesMasterIdLst>
  <p:sldIdLst>
    <p:sldId id="256" r:id="rId45"/>
    <p:sldId id="257" r:id="rId46"/>
    <p:sldId id="258" r:id="rId47"/>
    <p:sldId id="259" r:id="rId48"/>
    <p:sldId id="260" r:id="rId49"/>
    <p:sldId id="261" r:id="rId50"/>
    <p:sldId id="262" r:id="rId51"/>
    <p:sldId id="263" r:id="rId5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notesMaster" Target="notesMasters/notesMaster1.xml"/><Relationship Id="rId45" Type="http://schemas.openxmlformats.org/officeDocument/2006/relationships/slide" Target="slides/slide1.xml"/><Relationship Id="rId46" Type="http://schemas.openxmlformats.org/officeDocument/2006/relationships/slide" Target="slides/slide2.xml"/><Relationship Id="rId47" Type="http://schemas.openxmlformats.org/officeDocument/2006/relationships/slide" Target="slides/slide3.xml"/><Relationship Id="rId48" Type="http://schemas.openxmlformats.org/officeDocument/2006/relationships/slide" Target="slides/slide4.xml"/><Relationship Id="rId49" Type="http://schemas.openxmlformats.org/officeDocument/2006/relationships/slide" Target="slides/slide5.xml"/><Relationship Id="rId50" Type="http://schemas.openxmlformats.org/officeDocument/2006/relationships/slide" Target="slides/slide6.xml"/><Relationship Id="rId51" Type="http://schemas.openxmlformats.org/officeDocument/2006/relationships/slide" Target="slides/slide7.xml"/><Relationship Id="rId52" Type="http://schemas.openxmlformats.org/officeDocument/2006/relationships/slide" Target="slides/slide8.xml"/><Relationship Id="rId5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GB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PlaceHolder 4"/>
          <p:cNvSpPr>
            <a:spLocks noGrp="1"/>
          </p:cNvSpPr>
          <p:nvPr>
            <p:ph type="dt" idx="12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PlaceHolder 5"/>
          <p:cNvSpPr>
            <a:spLocks noGrp="1"/>
          </p:cNvSpPr>
          <p:nvPr>
            <p:ph type="ftr" idx="12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PlaceHolder 6"/>
          <p:cNvSpPr>
            <a:spLocks noGrp="1"/>
          </p:cNvSpPr>
          <p:nvPr>
            <p:ph type="sldNum" idx="12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064F387-9EEB-43B7-BB82-B52AB9EA9A4A}" type="slidenum"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QC is the first thing done after sequencing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Some QC is often already done by the sequencing facility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Need to know how to understand their report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12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69F5680-712D-454E-AB79-A2E54A66A8C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380880" y="694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432000" y="4608000"/>
            <a:ext cx="604764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Raw sequences are stored in text files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Usually gzip-compressed (extension .gz) (not in the QC lab, though)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FASTQ format has four lines per record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Sequence itself can also be used for QC purposes. For example, by checking for adapter contamination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Here, focus on quality values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“A” represents quality 32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380880" y="694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5076000" cy="356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Why does it not make much sense to have quality 0?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380880" y="694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5652000" cy="22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en-GB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Very typical: Quality degrades over time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GB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module shows the distribution of the quality scores at each position in the reads. The quality scores are represented by a box-and-whisker plot with the following elements: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central red line is the median value.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yellow box represents the inter-quartile range (25-75%).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upper and lower whiskers represent the 10% and 90% points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blue line represents the mean quality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380880" y="694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5076000" cy="356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GB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-q 10 would be a bit more conservative; doesn’t remove as much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380880" y="694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5076000" cy="356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GB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All the blue lines (means) from the individual FastQC plots shown at once for all samples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_with our host un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8642DB0-D056-4F2B-B71E-0F093C8B535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 column_no bullet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22E350C-3887-49D9-8A9B-E59054AD21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BECE83C-9DBE-4658-BC63-DE1BE064622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8EE9671-1AD2-410D-A101-1321A97B9E8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lumns_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6BBB67D-6F31-4638-9553-967DDFC42C0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78D7C3E-A0E3-4629-BC07-7F18FC6755C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x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B90206AC-DBF8-4ED8-A4F4-F847820468C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2E9BF916-05B8-44D5-B562-3FA183BB87B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with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B8F79A95-9385-414E-A0CD-D0167D78C22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ullscreen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8EB7965E-8B77-45C3-9632-BE5921AFC26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ullscreen_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9A7C0B02-3746-4985-8223-3C1A0B62990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_without our host un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50543DA1-CD8F-423F-9775-727BA32F0CF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 column_with our host un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4DE223FA-6B11-4FAA-A12A-20413532893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lin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61ED7084-EA95-4955-8376-D07AAA3AFF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ubsec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50B3E559-B3C1-423E-B588-6FD28FA2E81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enda_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54C9727E-8DC9-40A4-9301-FB2B22C196B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enda_with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67690A48-2B2D-4656-A714-3B95D4F0A0D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 column_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A7CD1609-78FC-4392-99D8-EC974B894DC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 column_with picture_n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C0421F09-F447-485C-BDCF-333555EFE6D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0AF1ED67-9895-478F-A521-0BB2A7F470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6EBE377D-A628-41DC-ADE8-04DD39E81EE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8053CB22-F279-4190-B3F3-8F990BDD66F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D85D9650-BFA6-4346-ADC0-C249C561683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6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8"/>
          </p:nvPr>
        </p:nvSpPr>
        <p:spPr/>
        <p:txBody>
          <a:bodyPr/>
          <a:p>
            <a:fld id="{B9F28721-6245-4870-89F8-4E1EC96F8C0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9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81FBB537-46C4-4EEE-903D-67DF98FA9C5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2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6B648522-2903-40F7-B5AA-BF4982437AC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5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7"/>
          </p:nvPr>
        </p:nvSpPr>
        <p:spPr/>
        <p:txBody>
          <a:bodyPr/>
          <a:p>
            <a:fld id="{305174ED-89D7-4588-B685-07756DB7198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8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0"/>
          </p:nvPr>
        </p:nvSpPr>
        <p:spPr/>
        <p:txBody>
          <a:bodyPr/>
          <a:p>
            <a:fld id="{5951EB2E-9B81-4432-B206-7595E388073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3"/>
          </p:nvPr>
        </p:nvSpPr>
        <p:spPr/>
        <p:txBody>
          <a:bodyPr/>
          <a:p>
            <a:fld id="{E7019BF3-8481-4785-B9AF-2DFCBCDC1E1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6"/>
          </p:nvPr>
        </p:nvSpPr>
        <p:spPr/>
        <p:txBody>
          <a:bodyPr/>
          <a:p>
            <a:fld id="{F2644B94-3DC1-4335-9A23-7CDB451C32E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ulllscreen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9"/>
          </p:nvPr>
        </p:nvSpPr>
        <p:spPr/>
        <p:txBody>
          <a:bodyPr/>
          <a:p>
            <a:fld id="{ABEC8FC1-FDA9-4B4F-AECC-893E2C7204B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2"/>
          </p:nvPr>
        </p:nvSpPr>
        <p:spPr/>
        <p:txBody>
          <a:bodyPr/>
          <a:p>
            <a:fld id="{F30EB3F8-2365-437B-B573-8472122F6BE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5"/>
          </p:nvPr>
        </p:nvSpPr>
        <p:spPr/>
        <p:txBody>
          <a:bodyPr/>
          <a:p>
            <a:fld id="{ADAA978B-1D19-4531-9FDE-7734086E6A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6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8"/>
          </p:nvPr>
        </p:nvSpPr>
        <p:spPr/>
        <p:txBody>
          <a:bodyPr/>
          <a:p>
            <a:fld id="{BD1C6671-AB25-4371-B9C6-0520B7F579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9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1"/>
          </p:nvPr>
        </p:nvSpPr>
        <p:spPr/>
        <p:txBody>
          <a:bodyPr/>
          <a:p>
            <a:fld id="{FB56E51C-E488-4E36-B1D0-75F77BE91EE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2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ub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4"/>
          </p:nvPr>
        </p:nvSpPr>
        <p:spPr/>
        <p:txBody>
          <a:bodyPr/>
          <a:p>
            <a:fld id="{57F9A15F-8B34-4838-9D3C-F7FAD943F7A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5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7"/>
          </p:nvPr>
        </p:nvSpPr>
        <p:spPr/>
        <p:txBody>
          <a:bodyPr/>
          <a:p>
            <a:fld id="{27E7FA3E-696C-476C-BB1B-DA1ACE7581C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8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0"/>
          </p:nvPr>
        </p:nvSpPr>
        <p:spPr/>
        <p:txBody>
          <a:bodyPr/>
          <a:p>
            <a:fld id="{F5FD0F8A-FD7B-4059-8130-640516C73C2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1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3"/>
          </p:nvPr>
        </p:nvSpPr>
        <p:spPr/>
        <p:txBody>
          <a:bodyPr/>
          <a:p>
            <a:fld id="{61FB6B0C-8279-42AE-A0E5-8A31AB8500E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1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 column_with picture_no bullet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6"/>
          </p:nvPr>
        </p:nvSpPr>
        <p:spPr/>
        <p:txBody>
          <a:bodyPr/>
          <a:p>
            <a:fld id="{761256A5-B82E-4B3A-A741-DD315E54B10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1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9"/>
          </p:nvPr>
        </p:nvSpPr>
        <p:spPr/>
        <p:txBody>
          <a:bodyPr/>
          <a:p>
            <a:fld id="{6D64F803-749E-46F4-AE6A-4DB4179232C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3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4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5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6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7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8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9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0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1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2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3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4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5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36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7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8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9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0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1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2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6" descr=""/>
          <p:cNvPicPr/>
          <p:nvPr/>
        </p:nvPicPr>
        <p:blipFill>
          <a:blip r:embed="rId2"/>
          <a:stretch/>
        </p:blipFill>
        <p:spPr>
          <a:xfrm>
            <a:off x="211680" y="238680"/>
            <a:ext cx="1639080" cy="87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" name="Picture 9" descr="A picture containing food&#10;&#10;Description automatically generated"/>
          <p:cNvPicPr/>
          <p:nvPr/>
        </p:nvPicPr>
        <p:blipFill>
          <a:blip r:embed="rId3"/>
          <a:stretch/>
        </p:blipFill>
        <p:spPr>
          <a:xfrm>
            <a:off x="8295840" y="181440"/>
            <a:ext cx="3057120" cy="76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" name="Picture 10" descr="A close up of a logo&#10;&#10;Description automatically generated"/>
          <p:cNvPicPr/>
          <p:nvPr/>
        </p:nvPicPr>
        <p:blipFill>
          <a:blip r:embed="rId4"/>
          <a:stretch/>
        </p:blipFill>
        <p:spPr>
          <a:xfrm>
            <a:off x="3857400" y="120600"/>
            <a:ext cx="3604320" cy="7822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" name="Straight Connector 7"/>
          <p:cNvCxnSpPr/>
          <p:nvPr/>
        </p:nvCxnSpPr>
        <p:spPr>
          <a:xfrm flipH="1">
            <a:off x="0" y="6811560"/>
            <a:ext cx="12192840" cy="1080"/>
          </a:xfrm>
          <a:prstGeom prst="straightConnector1">
            <a:avLst/>
          </a:prstGeom>
          <a:ln w="101600">
            <a:solidFill>
              <a:srgbClr val="a7c947"/>
            </a:solidFill>
            <a:round/>
          </a:ln>
        </p:spPr>
      </p:cxn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5C15FF5-2064-42BD-83A4-D35A8B8C0306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"/>
          <p:cNvPicPr/>
          <p:nvPr/>
        </p:nvPicPr>
        <p:blipFill>
          <a:blip r:embed="rId2"/>
          <a:stretch/>
        </p:blipFill>
        <p:spPr>
          <a:xfrm>
            <a:off x="211680" y="238680"/>
            <a:ext cx="1639080" cy="87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Picture 24" descr="A picture containing light&#10;&#10;Description automatically generated"/>
          <p:cNvPicPr/>
          <p:nvPr/>
        </p:nvPicPr>
        <p:blipFill>
          <a:blip r:embed="rId3"/>
          <a:stretch/>
        </p:blipFill>
        <p:spPr>
          <a:xfrm>
            <a:off x="10914840" y="365040"/>
            <a:ext cx="876600" cy="8290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2" name="Straight Connector 25"/>
          <p:cNvCxnSpPr/>
          <p:nvPr/>
        </p:nvCxnSpPr>
        <p:spPr>
          <a:xfrm>
            <a:off x="828000" y="1221480"/>
            <a:ext cx="10516680" cy="1080"/>
          </a:xfrm>
          <a:prstGeom prst="straightConnector1">
            <a:avLst/>
          </a:prstGeom>
          <a:ln w="12700">
            <a:solidFill>
              <a:srgbClr val="a7c947"/>
            </a:solidFill>
            <a:round/>
          </a:ln>
        </p:spPr>
      </p:cxnSp>
      <p:sp>
        <p:nvSpPr>
          <p:cNvPr id="13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81E108C-76BD-4949-B8E8-87311D5A29AD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6" descr=""/>
          <p:cNvPicPr/>
          <p:nvPr/>
        </p:nvPicPr>
        <p:blipFill>
          <a:blip r:embed="rId2"/>
          <a:stretch/>
        </p:blipFill>
        <p:spPr>
          <a:xfrm>
            <a:off x="211680" y="238680"/>
            <a:ext cx="1639080" cy="87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Picture 12" descr="A picture containing light&#10;&#10;Description automatically generated"/>
          <p:cNvPicPr/>
          <p:nvPr/>
        </p:nvPicPr>
        <p:blipFill>
          <a:blip r:embed="rId3"/>
          <a:stretch/>
        </p:blipFill>
        <p:spPr>
          <a:xfrm>
            <a:off x="10914840" y="365040"/>
            <a:ext cx="876600" cy="8290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8" name="Straight Connector 13"/>
          <p:cNvCxnSpPr/>
          <p:nvPr/>
        </p:nvCxnSpPr>
        <p:spPr>
          <a:xfrm>
            <a:off x="828000" y="1221480"/>
            <a:ext cx="10516680" cy="1080"/>
          </a:xfrm>
          <a:prstGeom prst="straightConnector1">
            <a:avLst/>
          </a:prstGeom>
          <a:ln w="12700">
            <a:solidFill>
              <a:srgbClr val="a7c947"/>
            </a:solidFill>
            <a:round/>
          </a:ln>
        </p:spPr>
      </p:cxnSp>
      <p:sp>
        <p:nvSpPr>
          <p:cNvPr id="19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2F5C143-3A8F-4F44-950D-6109E9CFEC72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6" descr=""/>
          <p:cNvPicPr/>
          <p:nvPr/>
        </p:nvPicPr>
        <p:blipFill>
          <a:blip r:embed="rId2"/>
          <a:stretch/>
        </p:blipFill>
        <p:spPr>
          <a:xfrm>
            <a:off x="211680" y="238680"/>
            <a:ext cx="1639080" cy="87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" name="Picture 12" descr="A picture containing light&#10;&#10;Description automatically generated"/>
          <p:cNvPicPr/>
          <p:nvPr/>
        </p:nvPicPr>
        <p:blipFill>
          <a:blip r:embed="rId3"/>
          <a:stretch/>
        </p:blipFill>
        <p:spPr>
          <a:xfrm>
            <a:off x="10914840" y="365040"/>
            <a:ext cx="876600" cy="8290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4" name="Straight Connector 13"/>
          <p:cNvCxnSpPr/>
          <p:nvPr/>
        </p:nvCxnSpPr>
        <p:spPr>
          <a:xfrm>
            <a:off x="828000" y="1221480"/>
            <a:ext cx="10516680" cy="1080"/>
          </a:xfrm>
          <a:prstGeom prst="straightConnector1">
            <a:avLst/>
          </a:prstGeom>
          <a:ln w="12700">
            <a:solidFill>
              <a:srgbClr val="a7c947"/>
            </a:solidFill>
            <a:round/>
          </a:ln>
        </p:spPr>
      </p:cxnSp>
      <p:sp>
        <p:nvSpPr>
          <p:cNvPr id="25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2E4C6F0-BCDE-4A65-93C8-3DCE2C833D8C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6" descr=""/>
          <p:cNvPicPr/>
          <p:nvPr/>
        </p:nvPicPr>
        <p:blipFill>
          <a:blip r:embed="rId2"/>
          <a:stretch/>
        </p:blipFill>
        <p:spPr>
          <a:xfrm>
            <a:off x="211680" y="238680"/>
            <a:ext cx="1639080" cy="87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" name="Picture 16" descr="A picture containing light&#10;&#10;Description automatically generated"/>
          <p:cNvPicPr/>
          <p:nvPr/>
        </p:nvPicPr>
        <p:blipFill>
          <a:blip r:embed="rId3"/>
          <a:stretch/>
        </p:blipFill>
        <p:spPr>
          <a:xfrm>
            <a:off x="10914840" y="365040"/>
            <a:ext cx="876600" cy="8290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0" name="Straight Connector 17"/>
          <p:cNvCxnSpPr/>
          <p:nvPr/>
        </p:nvCxnSpPr>
        <p:spPr>
          <a:xfrm>
            <a:off x="828000" y="1221480"/>
            <a:ext cx="10516680" cy="1080"/>
          </a:xfrm>
          <a:prstGeom prst="straightConnector1">
            <a:avLst/>
          </a:prstGeom>
          <a:ln w="12700">
            <a:solidFill>
              <a:srgbClr val="a7c947"/>
            </a:solidFill>
            <a:round/>
          </a:ln>
        </p:spPr>
      </p:cxnSp>
      <p:sp>
        <p:nvSpPr>
          <p:cNvPr id="31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64E8B7D-6833-4511-9F23-37B63E859A70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6" descr=""/>
          <p:cNvPicPr/>
          <p:nvPr/>
        </p:nvPicPr>
        <p:blipFill>
          <a:blip r:embed="rId2"/>
          <a:stretch/>
        </p:blipFill>
        <p:spPr>
          <a:xfrm>
            <a:off x="211680" y="238680"/>
            <a:ext cx="1639080" cy="87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Picture 14" descr="A picture containing light&#10;&#10;Description automatically generated"/>
          <p:cNvPicPr/>
          <p:nvPr/>
        </p:nvPicPr>
        <p:blipFill>
          <a:blip r:embed="rId3"/>
          <a:stretch/>
        </p:blipFill>
        <p:spPr>
          <a:xfrm>
            <a:off x="10914840" y="365040"/>
            <a:ext cx="876600" cy="8290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6" name="Straight Connector 15"/>
          <p:cNvCxnSpPr/>
          <p:nvPr/>
        </p:nvCxnSpPr>
        <p:spPr>
          <a:xfrm>
            <a:off x="828000" y="1221480"/>
            <a:ext cx="10516680" cy="1080"/>
          </a:xfrm>
          <a:prstGeom prst="straightConnector1">
            <a:avLst/>
          </a:prstGeom>
          <a:ln w="12700">
            <a:solidFill>
              <a:srgbClr val="a7c947"/>
            </a:solidFill>
            <a:round/>
          </a:ln>
        </p:spPr>
      </p:cxnSp>
      <p:sp>
        <p:nvSpPr>
          <p:cNvPr id="37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7E005BD-5EA7-48FA-A834-520561E20149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6" descr=""/>
          <p:cNvPicPr/>
          <p:nvPr/>
        </p:nvPicPr>
        <p:blipFill>
          <a:blip r:embed="rId2"/>
          <a:stretch/>
        </p:blipFill>
        <p:spPr>
          <a:xfrm>
            <a:off x="211680" y="238680"/>
            <a:ext cx="1639080" cy="87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" name="Picture 14" descr="A picture containing light&#10;&#10;Description automatically generated"/>
          <p:cNvPicPr/>
          <p:nvPr/>
        </p:nvPicPr>
        <p:blipFill>
          <a:blip r:embed="rId3"/>
          <a:stretch/>
        </p:blipFill>
        <p:spPr>
          <a:xfrm>
            <a:off x="10914840" y="365040"/>
            <a:ext cx="876600" cy="8290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2" name="Straight Connector 15"/>
          <p:cNvCxnSpPr/>
          <p:nvPr/>
        </p:nvCxnSpPr>
        <p:spPr>
          <a:xfrm>
            <a:off x="828000" y="1221480"/>
            <a:ext cx="10516680" cy="1080"/>
          </a:xfrm>
          <a:prstGeom prst="straightConnector1">
            <a:avLst/>
          </a:prstGeom>
          <a:ln w="12700">
            <a:solidFill>
              <a:srgbClr val="a7c947"/>
            </a:solidFill>
            <a:round/>
          </a:ln>
        </p:spPr>
      </p:cxnSp>
      <p:sp>
        <p:nvSpPr>
          <p:cNvPr id="43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382B671-8789-4E73-9464-77BAA0E0D6D8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6" descr=""/>
          <p:cNvPicPr/>
          <p:nvPr/>
        </p:nvPicPr>
        <p:blipFill>
          <a:blip r:embed="rId2"/>
          <a:stretch/>
        </p:blipFill>
        <p:spPr>
          <a:xfrm>
            <a:off x="211680" y="238680"/>
            <a:ext cx="1639080" cy="87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" name="Picture 5" descr="A picture containing light&#10;&#10;Description automatically generated"/>
          <p:cNvPicPr/>
          <p:nvPr/>
        </p:nvPicPr>
        <p:blipFill>
          <a:blip r:embed="rId3"/>
          <a:stretch/>
        </p:blipFill>
        <p:spPr>
          <a:xfrm>
            <a:off x="10914840" y="365040"/>
            <a:ext cx="876600" cy="82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497CFFD-6700-41A6-8AEF-4E605F02C25A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6" descr=""/>
          <p:cNvPicPr/>
          <p:nvPr/>
        </p:nvPicPr>
        <p:blipFill>
          <a:blip r:embed="rId2"/>
          <a:stretch/>
        </p:blipFill>
        <p:spPr>
          <a:xfrm>
            <a:off x="211680" y="238680"/>
            <a:ext cx="1639080" cy="87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" name="Picture 5" descr="A picture containing light&#10;&#10;Description automatically generated"/>
          <p:cNvPicPr/>
          <p:nvPr/>
        </p:nvPicPr>
        <p:blipFill>
          <a:blip r:embed="rId3"/>
          <a:stretch/>
        </p:blipFill>
        <p:spPr>
          <a:xfrm>
            <a:off x="10914840" y="365040"/>
            <a:ext cx="876600" cy="82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B4F3BF1-6EB3-4A18-8865-94F944F7CE52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6" descr=""/>
          <p:cNvPicPr/>
          <p:nvPr/>
        </p:nvPicPr>
        <p:blipFill>
          <a:blip r:embed="rId2"/>
          <a:stretch/>
        </p:blipFill>
        <p:spPr>
          <a:xfrm>
            <a:off x="211680" y="238680"/>
            <a:ext cx="1639080" cy="87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Picture 4" descr="A picture containing light&#10;&#10;Description automatically generated"/>
          <p:cNvPicPr/>
          <p:nvPr/>
        </p:nvPicPr>
        <p:blipFill>
          <a:blip r:embed="rId3"/>
          <a:stretch/>
        </p:blipFill>
        <p:spPr>
          <a:xfrm>
            <a:off x="10914840" y="365040"/>
            <a:ext cx="876600" cy="82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6D16F93-27EE-454B-A063-D3A482C5FF63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" descr=""/>
          <p:cNvPicPr/>
          <p:nvPr/>
        </p:nvPicPr>
        <p:blipFill>
          <a:blip r:embed="rId2"/>
          <a:stretch/>
        </p:blipFill>
        <p:spPr>
          <a:xfrm>
            <a:off x="211680" y="238680"/>
            <a:ext cx="1639080" cy="87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Picture 4" descr="A picture containing light&#10;&#10;Description automatically generated"/>
          <p:cNvPicPr/>
          <p:nvPr/>
        </p:nvPicPr>
        <p:blipFill>
          <a:blip r:embed="rId3"/>
          <a:stretch/>
        </p:blipFill>
        <p:spPr>
          <a:xfrm>
            <a:off x="10914840" y="365040"/>
            <a:ext cx="876600" cy="82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63526C1-CD71-4DBA-A275-1F999E275970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4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6" descr=""/>
          <p:cNvPicPr/>
          <p:nvPr/>
        </p:nvPicPr>
        <p:blipFill>
          <a:blip r:embed="rId2"/>
          <a:stretch/>
        </p:blipFill>
        <p:spPr>
          <a:xfrm>
            <a:off x="211680" y="238680"/>
            <a:ext cx="1639080" cy="87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Picture 7" descr="A close up of a logo&#10;&#10;Description automatically generated"/>
          <p:cNvPicPr/>
          <p:nvPr/>
        </p:nvPicPr>
        <p:blipFill>
          <a:blip r:embed="rId3"/>
          <a:stretch/>
        </p:blipFill>
        <p:spPr>
          <a:xfrm>
            <a:off x="8179560" y="171360"/>
            <a:ext cx="3604320" cy="7822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8" name="Straight Connector 8"/>
          <p:cNvCxnSpPr/>
          <p:nvPr/>
        </p:nvCxnSpPr>
        <p:spPr>
          <a:xfrm flipH="1">
            <a:off x="0" y="6811560"/>
            <a:ext cx="12192840" cy="1080"/>
          </a:xfrm>
          <a:prstGeom prst="straightConnector1">
            <a:avLst/>
          </a:prstGeom>
          <a:ln w="101600">
            <a:solidFill>
              <a:srgbClr val="a7c947"/>
            </a:solidFill>
            <a:round/>
          </a:ln>
        </p:spPr>
      </p:cxn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6327670-4394-4FFC-A013-BDBA48E87C8E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6" descr=""/>
          <p:cNvPicPr/>
          <p:nvPr/>
        </p:nvPicPr>
        <p:blipFill>
          <a:blip r:embed="rId2"/>
          <a:stretch/>
        </p:blipFill>
        <p:spPr>
          <a:xfrm>
            <a:off x="211680" y="238680"/>
            <a:ext cx="1639080" cy="8798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77" name="Straight Connector 11"/>
          <p:cNvCxnSpPr/>
          <p:nvPr/>
        </p:nvCxnSpPr>
        <p:spPr>
          <a:xfrm>
            <a:off x="778680" y="1395360"/>
            <a:ext cx="10516680" cy="1080"/>
          </a:xfrm>
          <a:prstGeom prst="straightConnector1">
            <a:avLst/>
          </a:prstGeom>
          <a:ln w="12700">
            <a:solidFill>
              <a:srgbClr val="a7c947"/>
            </a:solidFill>
            <a:round/>
          </a:ln>
        </p:spPr>
      </p:cxnSp>
      <p:cxnSp>
        <p:nvCxnSpPr>
          <p:cNvPr id="78" name="Straight Connector 14"/>
          <p:cNvCxnSpPr/>
          <p:nvPr/>
        </p:nvCxnSpPr>
        <p:spPr>
          <a:xfrm flipH="1">
            <a:off x="0" y="6811560"/>
            <a:ext cx="12192840" cy="1080"/>
          </a:xfrm>
          <a:prstGeom prst="straightConnector1">
            <a:avLst/>
          </a:prstGeom>
          <a:ln w="101600">
            <a:solidFill>
              <a:srgbClr val="a7c947"/>
            </a:solidFill>
            <a:round/>
          </a:ln>
        </p:spPr>
      </p:cxnSp>
      <p:pic>
        <p:nvPicPr>
          <p:cNvPr id="79" name="Picture 9" descr="A picture containing food&#10;&#10;Description automatically generated"/>
          <p:cNvPicPr/>
          <p:nvPr/>
        </p:nvPicPr>
        <p:blipFill>
          <a:blip r:embed="rId3"/>
          <a:stretch/>
        </p:blipFill>
        <p:spPr>
          <a:xfrm>
            <a:off x="8295840" y="181440"/>
            <a:ext cx="3057120" cy="76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Picture 10" descr="A close up of a logo&#10;&#10;Description automatically generated"/>
          <p:cNvPicPr/>
          <p:nvPr/>
        </p:nvPicPr>
        <p:blipFill>
          <a:blip r:embed="rId4"/>
          <a:stretch/>
        </p:blipFill>
        <p:spPr>
          <a:xfrm>
            <a:off x="3857400" y="120600"/>
            <a:ext cx="3604320" cy="78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PlaceHolder 1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036122C-79A2-4398-BCEE-A1CD411C5532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5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6" descr=""/>
          <p:cNvPicPr/>
          <p:nvPr/>
        </p:nvPicPr>
        <p:blipFill>
          <a:blip r:embed="rId2"/>
          <a:stretch/>
        </p:blipFill>
        <p:spPr>
          <a:xfrm>
            <a:off x="211680" y="238680"/>
            <a:ext cx="1639080" cy="87984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6" descr=""/>
          <p:cNvPicPr/>
          <p:nvPr/>
        </p:nvPicPr>
        <p:blipFill>
          <a:blip r:embed="rId2"/>
          <a:stretch/>
        </p:blipFill>
        <p:spPr>
          <a:xfrm>
            <a:off x="211680" y="238680"/>
            <a:ext cx="1639080" cy="87984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6" descr=""/>
          <p:cNvPicPr/>
          <p:nvPr/>
        </p:nvPicPr>
        <p:blipFill>
          <a:blip r:embed="rId2"/>
          <a:stretch/>
        </p:blipFill>
        <p:spPr>
          <a:xfrm>
            <a:off x="211680" y="238680"/>
            <a:ext cx="1639080" cy="8798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87" name="Straight Connector 16"/>
          <p:cNvCxnSpPr/>
          <p:nvPr/>
        </p:nvCxnSpPr>
        <p:spPr>
          <a:xfrm flipH="1">
            <a:off x="0" y="6811560"/>
            <a:ext cx="12192840" cy="1080"/>
          </a:xfrm>
          <a:prstGeom prst="straightConnector1">
            <a:avLst/>
          </a:prstGeom>
          <a:ln w="101600">
            <a:solidFill>
              <a:srgbClr val="a7c947"/>
            </a:solidFill>
            <a:round/>
          </a:ln>
        </p:spPr>
      </p:cxnSp>
      <p:cxnSp>
        <p:nvCxnSpPr>
          <p:cNvPr id="88" name="Straight Connector 17"/>
          <p:cNvCxnSpPr/>
          <p:nvPr/>
        </p:nvCxnSpPr>
        <p:spPr>
          <a:xfrm>
            <a:off x="778680" y="1476360"/>
            <a:ext cx="10516680" cy="1080"/>
          </a:xfrm>
          <a:prstGeom prst="straightConnector1">
            <a:avLst/>
          </a:prstGeom>
          <a:ln w="12700">
            <a:solidFill>
              <a:srgbClr val="a7c947"/>
            </a:solidFill>
            <a:round/>
          </a:ln>
        </p:spPr>
      </p:cxnSp>
      <p:pic>
        <p:nvPicPr>
          <p:cNvPr id="89" name="Picture 9" descr="A close up of a logo&#10;&#10;Description automatically generated"/>
          <p:cNvPicPr/>
          <p:nvPr/>
        </p:nvPicPr>
        <p:blipFill>
          <a:blip r:embed="rId3"/>
          <a:stretch/>
        </p:blipFill>
        <p:spPr>
          <a:xfrm>
            <a:off x="8179560" y="171360"/>
            <a:ext cx="3604320" cy="78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PlaceHolder 1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41000B2-21F4-446D-A54E-BADBE0E5D312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4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6" descr=""/>
          <p:cNvPicPr/>
          <p:nvPr/>
        </p:nvPicPr>
        <p:blipFill>
          <a:blip r:embed="rId2"/>
          <a:stretch/>
        </p:blipFill>
        <p:spPr>
          <a:xfrm>
            <a:off x="211680" y="238680"/>
            <a:ext cx="1639080" cy="8798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94" name="Straight Connector 9"/>
          <p:cNvCxnSpPr/>
          <p:nvPr/>
        </p:nvCxnSpPr>
        <p:spPr>
          <a:xfrm flipH="1">
            <a:off x="0" y="6811560"/>
            <a:ext cx="12192840" cy="1080"/>
          </a:xfrm>
          <a:prstGeom prst="straightConnector1">
            <a:avLst/>
          </a:prstGeom>
          <a:ln w="101600">
            <a:solidFill>
              <a:srgbClr val="a7c947"/>
            </a:solidFill>
            <a:round/>
          </a:ln>
        </p:spPr>
      </p:cxnSp>
      <p:pic>
        <p:nvPicPr>
          <p:cNvPr id="95" name="Picture 8" descr="A close up of a logo&#10;&#10;Description automatically generated"/>
          <p:cNvPicPr/>
          <p:nvPr/>
        </p:nvPicPr>
        <p:blipFill>
          <a:blip r:embed="rId3"/>
          <a:stretch/>
        </p:blipFill>
        <p:spPr>
          <a:xfrm>
            <a:off x="8179560" y="171360"/>
            <a:ext cx="3604320" cy="78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PlaceHolder 1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604C1C7-7D94-4FBA-94D0-AB1B585E9107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4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6" descr=""/>
          <p:cNvPicPr/>
          <p:nvPr/>
        </p:nvPicPr>
        <p:blipFill>
          <a:blip r:embed="rId2"/>
          <a:stretch/>
        </p:blipFill>
        <p:spPr>
          <a:xfrm>
            <a:off x="211680" y="238680"/>
            <a:ext cx="1639080" cy="87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Picture 15" descr="A picture containing light&#10;&#10;Description automatically generated"/>
          <p:cNvPicPr/>
          <p:nvPr/>
        </p:nvPicPr>
        <p:blipFill>
          <a:blip r:embed="rId3"/>
          <a:stretch/>
        </p:blipFill>
        <p:spPr>
          <a:xfrm>
            <a:off x="10914840" y="365040"/>
            <a:ext cx="876600" cy="829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Graphic 5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433480" y="365040"/>
            <a:ext cx="1640520" cy="60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PlaceHolder 1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BCA929-EB54-42B5-ABA6-BCF493A41891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6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Picture 6" descr=""/>
          <p:cNvPicPr/>
          <p:nvPr/>
        </p:nvPicPr>
        <p:blipFill>
          <a:blip r:embed="rId2"/>
          <a:stretch/>
        </p:blipFill>
        <p:spPr>
          <a:xfrm>
            <a:off x="211680" y="238680"/>
            <a:ext cx="1639080" cy="87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" name="Picture 15" descr="A picture containing light&#10;&#10;Description automatically generated"/>
          <p:cNvPicPr/>
          <p:nvPr/>
        </p:nvPicPr>
        <p:blipFill>
          <a:blip r:embed="rId3"/>
          <a:stretch/>
        </p:blipFill>
        <p:spPr>
          <a:xfrm>
            <a:off x="10914840" y="365040"/>
            <a:ext cx="876600" cy="82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Rectangle 8"/>
          <p:cNvSpPr/>
          <p:nvPr/>
        </p:nvSpPr>
        <p:spPr>
          <a:xfrm>
            <a:off x="0" y="0"/>
            <a:ext cx="5255280" cy="6856920"/>
          </a:xfrm>
          <a:prstGeom prst="rect">
            <a:avLst/>
          </a:prstGeom>
          <a:solidFill>
            <a:srgbClr val="a7c9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SE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8" name="Graphic 9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433480" y="365040"/>
            <a:ext cx="1640520" cy="60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PlaceHolder 1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1821057-0009-40CA-8F8A-537815B10537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6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"/>
          <p:cNvPicPr/>
          <p:nvPr/>
        </p:nvPicPr>
        <p:blipFill>
          <a:blip r:embed="rId2"/>
          <a:stretch/>
        </p:blipFill>
        <p:spPr>
          <a:xfrm>
            <a:off x="211680" y="238680"/>
            <a:ext cx="1639080" cy="8798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13" name="Straight Connector 18"/>
          <p:cNvCxnSpPr/>
          <p:nvPr/>
        </p:nvCxnSpPr>
        <p:spPr>
          <a:xfrm>
            <a:off x="828000" y="1221480"/>
            <a:ext cx="10516680" cy="1080"/>
          </a:xfrm>
          <a:prstGeom prst="straightConnector1">
            <a:avLst/>
          </a:prstGeom>
          <a:ln w="12700">
            <a:solidFill>
              <a:srgbClr val="a7c947"/>
            </a:solidFill>
            <a:round/>
          </a:ln>
        </p:spPr>
      </p:cxnSp>
      <p:pic>
        <p:nvPicPr>
          <p:cNvPr id="114" name="Picture 19" descr="A picture containing light&#10;&#10;Description automatically generated"/>
          <p:cNvPicPr/>
          <p:nvPr/>
        </p:nvPicPr>
        <p:blipFill>
          <a:blip r:embed="rId3"/>
          <a:stretch/>
        </p:blipFill>
        <p:spPr>
          <a:xfrm>
            <a:off x="10914840" y="365040"/>
            <a:ext cx="876600" cy="82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PlaceHolder 1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sldNum" idx="5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89E0DD3-E1E9-4A45-87D7-9A78FA9A5ECA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4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6" descr=""/>
          <p:cNvPicPr/>
          <p:nvPr/>
        </p:nvPicPr>
        <p:blipFill>
          <a:blip r:embed="rId2"/>
          <a:stretch/>
        </p:blipFill>
        <p:spPr>
          <a:xfrm>
            <a:off x="211680" y="238680"/>
            <a:ext cx="1639080" cy="8798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19" name="Straight Connector 18"/>
          <p:cNvCxnSpPr/>
          <p:nvPr/>
        </p:nvCxnSpPr>
        <p:spPr>
          <a:xfrm>
            <a:off x="828000" y="1221480"/>
            <a:ext cx="10516680" cy="1080"/>
          </a:xfrm>
          <a:prstGeom prst="straightConnector1">
            <a:avLst/>
          </a:prstGeom>
          <a:ln w="12700">
            <a:solidFill>
              <a:srgbClr val="a7c947"/>
            </a:solidFill>
            <a:round/>
          </a:ln>
        </p:spPr>
      </p:cxnSp>
      <p:pic>
        <p:nvPicPr>
          <p:cNvPr id="120" name="Picture 19" descr="A picture containing light&#10;&#10;Description automatically generated"/>
          <p:cNvPicPr/>
          <p:nvPr/>
        </p:nvPicPr>
        <p:blipFill>
          <a:blip r:embed="rId3"/>
          <a:stretch/>
        </p:blipFill>
        <p:spPr>
          <a:xfrm>
            <a:off x="10914840" y="365040"/>
            <a:ext cx="876600" cy="82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1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sldNum" idx="5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F448AA7-3830-4FDC-9155-466F934F4EB7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4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6" descr=""/>
          <p:cNvPicPr/>
          <p:nvPr/>
        </p:nvPicPr>
        <p:blipFill>
          <a:blip r:embed="rId2"/>
          <a:stretch/>
        </p:blipFill>
        <p:spPr>
          <a:xfrm>
            <a:off x="211680" y="238680"/>
            <a:ext cx="1639080" cy="87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24" descr="A picture containing light&#10;&#10;Description automatically generated"/>
          <p:cNvPicPr/>
          <p:nvPr/>
        </p:nvPicPr>
        <p:blipFill>
          <a:blip r:embed="rId3"/>
          <a:stretch/>
        </p:blipFill>
        <p:spPr>
          <a:xfrm>
            <a:off x="10914840" y="365040"/>
            <a:ext cx="876600" cy="82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PlaceHolder 1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sldNum" idx="5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13E8E4B-8811-43AD-8FDF-60E895E28D73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4"/>
    <p:sldLayoutId id="2147483692" r:id="rId5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7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Picture 9" descr="A picture containing food&#10;&#10;Description automatically generated"/>
          <p:cNvPicPr/>
          <p:nvPr/>
        </p:nvPicPr>
        <p:blipFill>
          <a:blip r:embed="rId2"/>
          <a:stretch/>
        </p:blipFill>
        <p:spPr>
          <a:xfrm>
            <a:off x="8295840" y="486360"/>
            <a:ext cx="3057120" cy="76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Picture 10" descr="A close up of a logo&#10;&#10;Description automatically generated"/>
          <p:cNvPicPr/>
          <p:nvPr/>
        </p:nvPicPr>
        <p:blipFill>
          <a:blip r:embed="rId3"/>
          <a:stretch/>
        </p:blipFill>
        <p:spPr>
          <a:xfrm>
            <a:off x="778680" y="486360"/>
            <a:ext cx="3604320" cy="7822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35" name="Straight Connector 7"/>
          <p:cNvCxnSpPr/>
          <p:nvPr/>
        </p:nvCxnSpPr>
        <p:spPr>
          <a:xfrm flipH="1">
            <a:off x="0" y="6811560"/>
            <a:ext cx="12192840" cy="1080"/>
          </a:xfrm>
          <a:prstGeom prst="straightConnector1">
            <a:avLst/>
          </a:prstGeom>
          <a:ln w="101600">
            <a:solidFill>
              <a:srgbClr val="a7c947"/>
            </a:solidFill>
            <a:round/>
          </a:ln>
        </p:spPr>
      </p:cxnSp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6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657ED98-B270-4A11-9EA3-88C306803B1E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4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Picture 24" descr="A picture containing light&#10;&#10;Description automatically generated"/>
          <p:cNvPicPr/>
          <p:nvPr/>
        </p:nvPicPr>
        <p:blipFill>
          <a:blip r:embed="rId2"/>
          <a:stretch/>
        </p:blipFill>
        <p:spPr>
          <a:xfrm>
            <a:off x="10914840" y="365040"/>
            <a:ext cx="876600" cy="8290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43" name="Straight Connector 25"/>
          <p:cNvCxnSpPr/>
          <p:nvPr/>
        </p:nvCxnSpPr>
        <p:spPr>
          <a:xfrm>
            <a:off x="828000" y="1221480"/>
            <a:ext cx="10516680" cy="1080"/>
          </a:xfrm>
          <a:prstGeom prst="straightConnector1">
            <a:avLst/>
          </a:prstGeom>
          <a:ln w="12700">
            <a:solidFill>
              <a:srgbClr val="a7c947"/>
            </a:solidFill>
            <a:round/>
          </a:ln>
        </p:spPr>
      </p:cxnSp>
      <p:sp>
        <p:nvSpPr>
          <p:cNvPr id="144" name="PlaceHolder 1"/>
          <p:cNvSpPr>
            <a:spLocks noGrp="1"/>
          </p:cNvSpPr>
          <p:nvPr>
            <p:ph type="ftr" idx="6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sldNum" idx="6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D6604D5-3824-4FA2-ADE8-5A791150A5D4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Picture 12" descr="A picture containing light&#10;&#10;Description automatically generated"/>
          <p:cNvPicPr/>
          <p:nvPr/>
        </p:nvPicPr>
        <p:blipFill>
          <a:blip r:embed="rId2"/>
          <a:stretch/>
        </p:blipFill>
        <p:spPr>
          <a:xfrm>
            <a:off x="10914840" y="365040"/>
            <a:ext cx="876600" cy="8290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48" name="Straight Connector 13"/>
          <p:cNvCxnSpPr/>
          <p:nvPr/>
        </p:nvCxnSpPr>
        <p:spPr>
          <a:xfrm>
            <a:off x="828000" y="1221480"/>
            <a:ext cx="10516680" cy="1080"/>
          </a:xfrm>
          <a:prstGeom prst="straightConnector1">
            <a:avLst/>
          </a:prstGeom>
          <a:ln w="12700">
            <a:solidFill>
              <a:srgbClr val="a7c947"/>
            </a:solidFill>
            <a:round/>
          </a:ln>
        </p:spPr>
      </p:cxnSp>
      <p:sp>
        <p:nvSpPr>
          <p:cNvPr id="149" name="PlaceHolder 1"/>
          <p:cNvSpPr>
            <a:spLocks noGrp="1"/>
          </p:cNvSpPr>
          <p:nvPr>
            <p:ph type="ftr" idx="6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sldNum" idx="6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9FE3835-F692-44BA-BCAF-5B53EA93F687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dt" idx="6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3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Picture 12" descr="A picture containing light&#10;&#10;Description automatically generated"/>
          <p:cNvPicPr/>
          <p:nvPr/>
        </p:nvPicPr>
        <p:blipFill>
          <a:blip r:embed="rId2"/>
          <a:stretch/>
        </p:blipFill>
        <p:spPr>
          <a:xfrm>
            <a:off x="10914840" y="365040"/>
            <a:ext cx="876600" cy="8290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53" name="Straight Connector 13"/>
          <p:cNvCxnSpPr/>
          <p:nvPr/>
        </p:nvCxnSpPr>
        <p:spPr>
          <a:xfrm>
            <a:off x="828000" y="1221480"/>
            <a:ext cx="10516680" cy="1080"/>
          </a:xfrm>
          <a:prstGeom prst="straightConnector1">
            <a:avLst/>
          </a:prstGeom>
          <a:ln w="12700">
            <a:solidFill>
              <a:srgbClr val="a7c947"/>
            </a:solidFill>
            <a:round/>
          </a:ln>
        </p:spPr>
      </p:cxnSp>
      <p:sp>
        <p:nvSpPr>
          <p:cNvPr id="154" name="PlaceHolder 1"/>
          <p:cNvSpPr>
            <a:spLocks noGrp="1"/>
          </p:cNvSpPr>
          <p:nvPr>
            <p:ph type="ftr" idx="7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sldNum" idx="7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1D0630A-2893-4430-8F01-853677E27291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dt" idx="7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3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Picture 16" descr="A picture containing light&#10;&#10;Description automatically generated"/>
          <p:cNvPicPr/>
          <p:nvPr/>
        </p:nvPicPr>
        <p:blipFill>
          <a:blip r:embed="rId2"/>
          <a:stretch/>
        </p:blipFill>
        <p:spPr>
          <a:xfrm>
            <a:off x="10914840" y="365040"/>
            <a:ext cx="876600" cy="8290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58" name="Straight Connector 17"/>
          <p:cNvCxnSpPr/>
          <p:nvPr/>
        </p:nvCxnSpPr>
        <p:spPr>
          <a:xfrm>
            <a:off x="828000" y="1221480"/>
            <a:ext cx="10516680" cy="1080"/>
          </a:xfrm>
          <a:prstGeom prst="straightConnector1">
            <a:avLst/>
          </a:prstGeom>
          <a:ln w="12700">
            <a:solidFill>
              <a:srgbClr val="a7c947"/>
            </a:solidFill>
            <a:round/>
          </a:ln>
        </p:spPr>
      </p:cxnSp>
      <p:sp>
        <p:nvSpPr>
          <p:cNvPr id="159" name="PlaceHolder 1"/>
          <p:cNvSpPr>
            <a:spLocks noGrp="1"/>
          </p:cNvSpPr>
          <p:nvPr>
            <p:ph type="ftr" idx="7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sldNum" idx="7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16E8B6F-279C-4C81-B5C0-8292BA947B20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dt" idx="7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3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Picture 14" descr="A picture containing light&#10;&#10;Description automatically generated"/>
          <p:cNvPicPr/>
          <p:nvPr/>
        </p:nvPicPr>
        <p:blipFill>
          <a:blip r:embed="rId2"/>
          <a:stretch/>
        </p:blipFill>
        <p:spPr>
          <a:xfrm>
            <a:off x="10914840" y="365040"/>
            <a:ext cx="876600" cy="8290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63" name="Straight Connector 15"/>
          <p:cNvCxnSpPr/>
          <p:nvPr/>
        </p:nvCxnSpPr>
        <p:spPr>
          <a:xfrm>
            <a:off x="828000" y="1221480"/>
            <a:ext cx="10516680" cy="1080"/>
          </a:xfrm>
          <a:prstGeom prst="straightConnector1">
            <a:avLst/>
          </a:prstGeom>
          <a:ln w="12700">
            <a:solidFill>
              <a:srgbClr val="a7c947"/>
            </a:solidFill>
            <a:round/>
          </a:ln>
        </p:spPr>
      </p:cxnSp>
      <p:sp>
        <p:nvSpPr>
          <p:cNvPr id="164" name="PlaceHolder 1"/>
          <p:cNvSpPr>
            <a:spLocks noGrp="1"/>
          </p:cNvSpPr>
          <p:nvPr>
            <p:ph type="ftr" idx="7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sldNum" idx="7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B89B2B4-F849-473A-BF6A-CA3336B09E61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dt" idx="7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3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Picture 14" descr="A picture containing light&#10;&#10;Description automatically generated"/>
          <p:cNvPicPr/>
          <p:nvPr/>
        </p:nvPicPr>
        <p:blipFill>
          <a:blip r:embed="rId2"/>
          <a:stretch/>
        </p:blipFill>
        <p:spPr>
          <a:xfrm>
            <a:off x="10914840" y="365040"/>
            <a:ext cx="876600" cy="8290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68" name="Straight Connector 15"/>
          <p:cNvCxnSpPr/>
          <p:nvPr/>
        </p:nvCxnSpPr>
        <p:spPr>
          <a:xfrm>
            <a:off x="828000" y="1221480"/>
            <a:ext cx="10516680" cy="1080"/>
          </a:xfrm>
          <a:prstGeom prst="straightConnector1">
            <a:avLst/>
          </a:prstGeom>
          <a:ln w="12700">
            <a:solidFill>
              <a:srgbClr val="a7c947"/>
            </a:solidFill>
            <a:round/>
          </a:ln>
        </p:spPr>
      </p:cxnSp>
      <p:sp>
        <p:nvSpPr>
          <p:cNvPr id="169" name="PlaceHolder 1"/>
          <p:cNvSpPr>
            <a:spLocks noGrp="1"/>
          </p:cNvSpPr>
          <p:nvPr>
            <p:ph type="ftr" idx="7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sldNum" idx="8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02528DF-D384-43B5-8B75-967E3598F4C1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dt" idx="8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3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Picture 5" descr="A picture containing light&#10;&#10;Description automatically generated"/>
          <p:cNvPicPr/>
          <p:nvPr/>
        </p:nvPicPr>
        <p:blipFill>
          <a:blip r:embed="rId2"/>
          <a:stretch/>
        </p:blipFill>
        <p:spPr>
          <a:xfrm>
            <a:off x="10914840" y="365040"/>
            <a:ext cx="876600" cy="82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PlaceHolder 1"/>
          <p:cNvSpPr>
            <a:spLocks noGrp="1"/>
          </p:cNvSpPr>
          <p:nvPr>
            <p:ph type="ftr" idx="8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sldNum" idx="8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DBC7CA8-C600-48E3-8D9E-BD3B96B847E5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dt" idx="8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3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Picture 5" descr="A picture containing light&#10;&#10;Description automatically generated"/>
          <p:cNvPicPr/>
          <p:nvPr/>
        </p:nvPicPr>
        <p:blipFill>
          <a:blip r:embed="rId2"/>
          <a:stretch/>
        </p:blipFill>
        <p:spPr>
          <a:xfrm>
            <a:off x="10914840" y="365040"/>
            <a:ext cx="876600" cy="82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PlaceHolder 1"/>
          <p:cNvSpPr>
            <a:spLocks noGrp="1"/>
          </p:cNvSpPr>
          <p:nvPr>
            <p:ph type="ftr" idx="8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sldNum" idx="8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70DA954-903B-44C3-A40E-C1B9445965CE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dt" idx="8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3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Picture 4" descr="A picture containing light&#10;&#10;Description automatically generated"/>
          <p:cNvPicPr/>
          <p:nvPr/>
        </p:nvPicPr>
        <p:blipFill>
          <a:blip r:embed="rId2"/>
          <a:stretch/>
        </p:blipFill>
        <p:spPr>
          <a:xfrm>
            <a:off x="10914840" y="365040"/>
            <a:ext cx="876600" cy="82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PlaceHolder 1"/>
          <p:cNvSpPr>
            <a:spLocks noGrp="1"/>
          </p:cNvSpPr>
          <p:nvPr>
            <p:ph type="ftr" idx="8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 type="sldNum" idx="8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2C5A494-C936-472F-B159-44E420C22A10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dt" idx="9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3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Picture 4" descr="A picture containing light&#10;&#10;Description automatically generated"/>
          <p:cNvPicPr/>
          <p:nvPr/>
        </p:nvPicPr>
        <p:blipFill>
          <a:blip r:embed="rId2"/>
          <a:stretch/>
        </p:blipFill>
        <p:spPr>
          <a:xfrm>
            <a:off x="10914840" y="365040"/>
            <a:ext cx="876600" cy="82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PlaceHolder 1"/>
          <p:cNvSpPr>
            <a:spLocks noGrp="1"/>
          </p:cNvSpPr>
          <p:nvPr>
            <p:ph type="ftr" idx="9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sldNum" idx="9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97C4F97-C904-44DB-B37F-2E7692572E71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dt" idx="9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3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Picture 7" descr="A close up of a logo&#10;&#10;Description automatically generated"/>
          <p:cNvPicPr/>
          <p:nvPr/>
        </p:nvPicPr>
        <p:blipFill>
          <a:blip r:embed="rId2"/>
          <a:stretch/>
        </p:blipFill>
        <p:spPr>
          <a:xfrm>
            <a:off x="778680" y="486360"/>
            <a:ext cx="3604320" cy="7822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89" name="Straight Connector 8"/>
          <p:cNvCxnSpPr/>
          <p:nvPr/>
        </p:nvCxnSpPr>
        <p:spPr>
          <a:xfrm flipH="1">
            <a:off x="0" y="6811560"/>
            <a:ext cx="12192840" cy="1080"/>
          </a:xfrm>
          <a:prstGeom prst="straightConnector1">
            <a:avLst/>
          </a:prstGeom>
          <a:ln w="101600">
            <a:solidFill>
              <a:srgbClr val="a7c947"/>
            </a:solidFill>
            <a:round/>
          </a:ln>
        </p:spPr>
      </p:cxnSp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ftr" idx="9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9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90A6912-76CC-40E5-9E9E-79A7E5DF9274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 type="dt" idx="9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3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6" name="Straight Connector 11"/>
          <p:cNvCxnSpPr/>
          <p:nvPr/>
        </p:nvCxnSpPr>
        <p:spPr>
          <a:xfrm>
            <a:off x="778680" y="1395360"/>
            <a:ext cx="10516680" cy="1080"/>
          </a:xfrm>
          <a:prstGeom prst="straightConnector1">
            <a:avLst/>
          </a:prstGeom>
          <a:ln w="12700">
            <a:solidFill>
              <a:srgbClr val="a7c947"/>
            </a:solidFill>
            <a:round/>
          </a:ln>
        </p:spPr>
      </p:cxnSp>
      <p:pic>
        <p:nvPicPr>
          <p:cNvPr id="197" name="Picture 12" descr="A picture containing food&#10;&#10;Description automatically generated"/>
          <p:cNvPicPr/>
          <p:nvPr/>
        </p:nvPicPr>
        <p:blipFill>
          <a:blip r:embed="rId2"/>
          <a:stretch/>
        </p:blipFill>
        <p:spPr>
          <a:xfrm>
            <a:off x="8295840" y="486360"/>
            <a:ext cx="3057120" cy="76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8" name="Picture 13" descr="A close up of a logo&#10;&#10;Description automatically generated"/>
          <p:cNvPicPr/>
          <p:nvPr/>
        </p:nvPicPr>
        <p:blipFill>
          <a:blip r:embed="rId3"/>
          <a:stretch/>
        </p:blipFill>
        <p:spPr>
          <a:xfrm>
            <a:off x="778680" y="486360"/>
            <a:ext cx="3604320" cy="7822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99" name="Straight Connector 14"/>
          <p:cNvCxnSpPr/>
          <p:nvPr/>
        </p:nvCxnSpPr>
        <p:spPr>
          <a:xfrm flipH="1">
            <a:off x="0" y="6811560"/>
            <a:ext cx="12192840" cy="1080"/>
          </a:xfrm>
          <a:prstGeom prst="straightConnector1">
            <a:avLst/>
          </a:prstGeom>
          <a:ln w="101600">
            <a:solidFill>
              <a:srgbClr val="a7c947"/>
            </a:solidFill>
            <a:round/>
          </a:ln>
        </p:spPr>
      </p:cxnSp>
      <p:sp>
        <p:nvSpPr>
          <p:cNvPr id="200" name="PlaceHolder 1"/>
          <p:cNvSpPr>
            <a:spLocks noGrp="1"/>
          </p:cNvSpPr>
          <p:nvPr>
            <p:ph type="ftr" idx="9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sldNum" idx="9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E8D589A-ED82-4E51-9B62-FCF2D333A9AA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dt" idx="9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4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Picture 15" descr="A close up of a logo&#10;&#10;Description automatically generated"/>
          <p:cNvPicPr/>
          <p:nvPr/>
        </p:nvPicPr>
        <p:blipFill>
          <a:blip r:embed="rId2"/>
          <a:stretch/>
        </p:blipFill>
        <p:spPr>
          <a:xfrm>
            <a:off x="778680" y="486360"/>
            <a:ext cx="3604320" cy="7822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04" name="Straight Connector 16"/>
          <p:cNvCxnSpPr/>
          <p:nvPr/>
        </p:nvCxnSpPr>
        <p:spPr>
          <a:xfrm flipH="1">
            <a:off x="0" y="6811560"/>
            <a:ext cx="12192840" cy="1080"/>
          </a:xfrm>
          <a:prstGeom prst="straightConnector1">
            <a:avLst/>
          </a:prstGeom>
          <a:ln w="101600">
            <a:solidFill>
              <a:srgbClr val="a7c947"/>
            </a:solidFill>
            <a:round/>
          </a:ln>
        </p:spPr>
      </p:cxnSp>
      <p:cxnSp>
        <p:nvCxnSpPr>
          <p:cNvPr id="205" name="Straight Connector 17"/>
          <p:cNvCxnSpPr/>
          <p:nvPr/>
        </p:nvCxnSpPr>
        <p:spPr>
          <a:xfrm>
            <a:off x="778680" y="1476360"/>
            <a:ext cx="10516680" cy="1080"/>
          </a:xfrm>
          <a:prstGeom prst="straightConnector1">
            <a:avLst/>
          </a:prstGeom>
          <a:ln w="12700">
            <a:solidFill>
              <a:srgbClr val="a7c947"/>
            </a:solidFill>
            <a:round/>
          </a:ln>
        </p:spPr>
      </p:cxnSp>
      <p:sp>
        <p:nvSpPr>
          <p:cNvPr id="206" name="PlaceHolder 1"/>
          <p:cNvSpPr>
            <a:spLocks noGrp="1"/>
          </p:cNvSpPr>
          <p:nvPr>
            <p:ph type="ftr" idx="10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sldNum" idx="10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00A760D-5DE4-4A19-BA59-6B86A090D943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dt" idx="10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3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Picture 7" descr="A close up of a logo&#10;&#10;Description automatically generated"/>
          <p:cNvPicPr/>
          <p:nvPr/>
        </p:nvPicPr>
        <p:blipFill>
          <a:blip r:embed="rId2"/>
          <a:stretch/>
        </p:blipFill>
        <p:spPr>
          <a:xfrm>
            <a:off x="778680" y="486360"/>
            <a:ext cx="3604320" cy="7822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10" name="Straight Connector 9"/>
          <p:cNvCxnSpPr/>
          <p:nvPr/>
        </p:nvCxnSpPr>
        <p:spPr>
          <a:xfrm flipH="1">
            <a:off x="0" y="6811560"/>
            <a:ext cx="12192840" cy="1080"/>
          </a:xfrm>
          <a:prstGeom prst="straightConnector1">
            <a:avLst/>
          </a:prstGeom>
          <a:ln w="101600">
            <a:solidFill>
              <a:srgbClr val="a7c947"/>
            </a:solidFill>
            <a:round/>
          </a:ln>
        </p:spPr>
      </p:cxnSp>
      <p:sp>
        <p:nvSpPr>
          <p:cNvPr id="211" name="PlaceHolder 1"/>
          <p:cNvSpPr>
            <a:spLocks noGrp="1"/>
          </p:cNvSpPr>
          <p:nvPr>
            <p:ph type="ftr" idx="10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sldNum" idx="10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A3B5773-BDAA-4CF7-ADEE-38792768E5E7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dt" idx="10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3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Picture 15" descr="A picture containing light&#10;&#10;Description automatically generated"/>
          <p:cNvPicPr/>
          <p:nvPr/>
        </p:nvPicPr>
        <p:blipFill>
          <a:blip r:embed="rId2"/>
          <a:stretch/>
        </p:blipFill>
        <p:spPr>
          <a:xfrm>
            <a:off x="10914840" y="365040"/>
            <a:ext cx="876600" cy="82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PlaceHolder 1"/>
          <p:cNvSpPr>
            <a:spLocks noGrp="1"/>
          </p:cNvSpPr>
          <p:nvPr>
            <p:ph type="ftr" idx="10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sldNum" idx="10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6697B01-4266-4E2E-8FBC-9BD25BFCC267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dt" idx="10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3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Picture 15" descr="A picture containing light&#10;&#10;Description automatically generated"/>
          <p:cNvPicPr/>
          <p:nvPr/>
        </p:nvPicPr>
        <p:blipFill>
          <a:blip r:embed="rId2"/>
          <a:stretch/>
        </p:blipFill>
        <p:spPr>
          <a:xfrm>
            <a:off x="10914840" y="365040"/>
            <a:ext cx="876600" cy="82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" name="Rectangle 8"/>
          <p:cNvSpPr/>
          <p:nvPr/>
        </p:nvSpPr>
        <p:spPr>
          <a:xfrm>
            <a:off x="0" y="0"/>
            <a:ext cx="5255280" cy="68569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SE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PlaceHolder 1"/>
          <p:cNvSpPr>
            <a:spLocks noGrp="1"/>
          </p:cNvSpPr>
          <p:nvPr>
            <p:ph type="ftr" idx="10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sldNum" idx="11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2D02B6F-7873-49CE-AF44-DA4C19C0CCB5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dt" idx="11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3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3" name="Straight Connector 18"/>
          <p:cNvCxnSpPr/>
          <p:nvPr/>
        </p:nvCxnSpPr>
        <p:spPr>
          <a:xfrm>
            <a:off x="828000" y="1221480"/>
            <a:ext cx="10516680" cy="1080"/>
          </a:xfrm>
          <a:prstGeom prst="straightConnector1">
            <a:avLst/>
          </a:prstGeom>
          <a:ln w="12700">
            <a:solidFill>
              <a:srgbClr val="a7c947"/>
            </a:solidFill>
            <a:round/>
          </a:ln>
        </p:spPr>
      </p:cxnSp>
      <p:pic>
        <p:nvPicPr>
          <p:cNvPr id="224" name="Picture 19" descr="A picture containing light&#10;&#10;Description automatically generated"/>
          <p:cNvPicPr/>
          <p:nvPr/>
        </p:nvPicPr>
        <p:blipFill>
          <a:blip r:embed="rId2"/>
          <a:stretch/>
        </p:blipFill>
        <p:spPr>
          <a:xfrm>
            <a:off x="10914840" y="365040"/>
            <a:ext cx="876600" cy="82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" name="PlaceHolder 1"/>
          <p:cNvSpPr>
            <a:spLocks noGrp="1"/>
          </p:cNvSpPr>
          <p:nvPr>
            <p:ph type="ftr" idx="11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sldNum" idx="11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AE66795-1BFA-4FD6-BBC8-62F45819776E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dt" idx="11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3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8" name="Straight Connector 18"/>
          <p:cNvCxnSpPr/>
          <p:nvPr/>
        </p:nvCxnSpPr>
        <p:spPr>
          <a:xfrm>
            <a:off x="828000" y="1221480"/>
            <a:ext cx="10516680" cy="1080"/>
          </a:xfrm>
          <a:prstGeom prst="straightConnector1">
            <a:avLst/>
          </a:prstGeom>
          <a:ln w="12700">
            <a:solidFill>
              <a:srgbClr val="a7c947"/>
            </a:solidFill>
            <a:round/>
          </a:ln>
        </p:spPr>
      </p:cxnSp>
      <p:pic>
        <p:nvPicPr>
          <p:cNvPr id="229" name="Picture 19" descr="A picture containing light&#10;&#10;Description automatically generated"/>
          <p:cNvPicPr/>
          <p:nvPr/>
        </p:nvPicPr>
        <p:blipFill>
          <a:blip r:embed="rId2"/>
          <a:stretch/>
        </p:blipFill>
        <p:spPr>
          <a:xfrm>
            <a:off x="10914840" y="365040"/>
            <a:ext cx="876600" cy="82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0" name="PlaceHolder 1"/>
          <p:cNvSpPr>
            <a:spLocks noGrp="1"/>
          </p:cNvSpPr>
          <p:nvPr>
            <p:ph type="ftr" idx="11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sldNum" idx="11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42D0E12-3555-46D9-8384-D1DA82DF17E7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dt" idx="11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3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Picture 24" descr="A picture containing light&#10;&#10;Description automatically generated"/>
          <p:cNvPicPr/>
          <p:nvPr/>
        </p:nvPicPr>
        <p:blipFill>
          <a:blip r:embed="rId2"/>
          <a:stretch/>
        </p:blipFill>
        <p:spPr>
          <a:xfrm>
            <a:off x="10914840" y="365040"/>
            <a:ext cx="876600" cy="8290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34" name="Straight Connector 25"/>
          <p:cNvCxnSpPr/>
          <p:nvPr/>
        </p:nvCxnSpPr>
        <p:spPr>
          <a:xfrm>
            <a:off x="828000" y="1221480"/>
            <a:ext cx="10516680" cy="1080"/>
          </a:xfrm>
          <a:prstGeom prst="straightConnector1">
            <a:avLst/>
          </a:prstGeom>
          <a:ln w="12700">
            <a:solidFill>
              <a:srgbClr val="a7c947"/>
            </a:solidFill>
            <a:round/>
          </a:ln>
        </p:spPr>
      </p:cxnSp>
      <p:sp>
        <p:nvSpPr>
          <p:cNvPr id="235" name="PlaceHolder 1"/>
          <p:cNvSpPr>
            <a:spLocks noGrp="1"/>
          </p:cNvSpPr>
          <p:nvPr>
            <p:ph type="ftr" idx="11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sldNum" idx="11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AABBE85-55B3-4323-933B-3434707D88AD}" type="slidenum">
              <a:rPr b="0" lang="en-S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dt" idx="12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3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23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3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www.bioinformatics.babraham.ac.uk/projects/fastqc/" TargetMode="External"/><Relationship Id="rId2" Type="http://schemas.openxmlformats.org/officeDocument/2006/relationships/hyperlink" Target="https://www.bioinformatics.babraham.ac.uk/projects/fastqc/Help/3%20Analysis%20Modules/2%20Per%20Base%20Sequence%20Quality.html" TargetMode="External"/><Relationship Id="rId3" Type="http://schemas.openxmlformats.org/officeDocument/2006/relationships/hyperlink" Target="https://seqera.io/multiqc/" TargetMode="External"/><Relationship Id="rId4" Type="http://schemas.openxmlformats.org/officeDocument/2006/relationships/hyperlink" Target="https://seqera.io/examples/ngi-rna/test_ngi_project_multiqc_report.html" TargetMode="External"/><Relationship Id="rId5" Type="http://schemas.openxmlformats.org/officeDocument/2006/relationships/slideLayout" Target="../slideLayouts/slideLayout2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594000" y="1188720"/>
            <a:ext cx="11002680" cy="223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6000" strike="noStrike" u="none">
                <a:solidFill>
                  <a:schemeClr val="lt2">
                    <a:lumMod val="10000"/>
                  </a:schemeClr>
                </a:solidFill>
                <a:effectLst/>
                <a:uFillTx/>
                <a:latin typeface="Arial"/>
              </a:rPr>
              <a:t>Quality Control of NGS data</a:t>
            </a:r>
            <a:endParaRPr b="0" lang="en-GB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5" name="PlaceHolder 1"/>
          <p:cNvSpPr>
            <a:spLocks noGrp="1"/>
          </p:cNvSpPr>
          <p:nvPr>
            <p:ph/>
          </p:nvPr>
        </p:nvSpPr>
        <p:spPr>
          <a:xfrm>
            <a:off x="838080" y="1486800"/>
            <a:ext cx="10514520" cy="4689000"/>
          </a:xfrm>
          <a:prstGeom prst="rect">
            <a:avLst/>
          </a:prstGeom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000" spc="99" strike="noStrike" u="none">
                <a:solidFill>
                  <a:srgbClr val="000000"/>
                </a:solidFill>
                <a:effectLst/>
                <a:uFillTx/>
                <a:latin typeface="Noto Mono"/>
              </a:rPr>
              <a:t>@HWUSI-EAS100R:6:73:941:1973#0/1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000" spc="99" strike="noStrike" u="none">
                <a:solidFill>
                  <a:srgbClr val="000000"/>
                </a:solidFill>
                <a:effectLst/>
                <a:uFillTx/>
                <a:latin typeface="Noto Mono"/>
              </a:rPr>
              <a:t>GATTTGGGGTTCAAAGCAGTATCGATCAAATAGTAAATCCATTTGTTCAACTCACAGTTT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000" spc="99" strike="noStrike" u="none">
                <a:solidFill>
                  <a:srgbClr val="000000"/>
                </a:solidFill>
                <a:effectLst/>
                <a:uFillTx/>
                <a:latin typeface="Noto Mono"/>
              </a:rPr>
              <a:t>+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000" spc="99" strike="noStrike" u="none">
                <a:solidFill>
                  <a:srgbClr val="000000"/>
                </a:solidFill>
                <a:effectLst/>
                <a:uFillTx/>
                <a:latin typeface="Noto Mono"/>
              </a:rPr>
              <a:t>!''*((((***+))%%%++)(%%%%).1***-+*''))**55CCF&gt;&gt;&gt;&gt;&gt;&gt;CCCCCCC65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Aft>
                <a:spcPts val="544"/>
              </a:spcAft>
              <a:buNone/>
              <a:tabLst>
                <a:tab algn="l" pos="0"/>
              </a:tabLst>
            </a:pPr>
            <a:endParaRPr b="0" lang="en-GB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Aft>
                <a:spcPts val="544"/>
              </a:spcAft>
              <a:buNone/>
              <a:tabLst>
                <a:tab algn="l" pos="0"/>
              </a:tabLst>
            </a:pPr>
            <a:r>
              <a:rPr b="0" lang="en-GB" sz="1900" strike="noStrike" u="none">
                <a:solidFill>
                  <a:schemeClr val="lt2">
                    <a:lumMod val="10000"/>
                  </a:schemeClr>
                </a:solidFill>
                <a:effectLst/>
                <a:uFillTx/>
                <a:latin typeface="Arial"/>
              </a:rPr>
              <a:t>Line 1: An “@” followed by a sequence identifier (machine ID, x-y coordinates, ...)</a:t>
            </a:r>
            <a:endParaRPr b="0" lang="en-GB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Aft>
                <a:spcPts val="544"/>
              </a:spcAft>
              <a:buNone/>
              <a:tabLst>
                <a:tab algn="l" pos="0"/>
              </a:tabLst>
            </a:pPr>
            <a:r>
              <a:rPr b="0" lang="en-GB" sz="1900" strike="noStrike" u="none">
                <a:solidFill>
                  <a:schemeClr val="lt2">
                    <a:lumMod val="10000"/>
                  </a:schemeClr>
                </a:solidFill>
                <a:effectLst/>
                <a:uFillTx/>
                <a:latin typeface="Arial"/>
              </a:rPr>
              <a:t>Line 2: The nucleotide sequence</a:t>
            </a:r>
            <a:endParaRPr b="0" lang="en-GB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Aft>
                <a:spcPts val="544"/>
              </a:spcAft>
              <a:buNone/>
              <a:tabLst>
                <a:tab algn="l" pos="0"/>
              </a:tabLst>
            </a:pPr>
            <a:r>
              <a:rPr b="0" lang="en-GB" sz="1900" strike="noStrike" u="none">
                <a:solidFill>
                  <a:schemeClr val="lt2">
                    <a:lumMod val="10000"/>
                  </a:schemeClr>
                </a:solidFill>
                <a:effectLst/>
                <a:uFillTx/>
                <a:latin typeface="Arial"/>
              </a:rPr>
              <a:t>Line 3: A “+” optionally followed by the sequence identifier again</a:t>
            </a:r>
            <a:endParaRPr b="0" lang="en-GB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Aft>
                <a:spcPts val="544"/>
              </a:spcAft>
              <a:buNone/>
              <a:tabLst>
                <a:tab algn="l" pos="0"/>
              </a:tabLst>
            </a:pPr>
            <a:r>
              <a:rPr b="0" lang="en-GB" sz="1900" strike="noStrike" u="none">
                <a:solidFill>
                  <a:schemeClr val="lt2">
                    <a:lumMod val="10000"/>
                  </a:schemeClr>
                </a:solidFill>
                <a:effectLst/>
                <a:uFillTx/>
                <a:latin typeface="Arial"/>
              </a:rPr>
              <a:t>Line 4: Encoded quality scores, one for each base in the read</a:t>
            </a:r>
            <a:endParaRPr b="0" lang="en-GB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Aft>
                <a:spcPts val="544"/>
              </a:spcAft>
              <a:buNone/>
              <a:tabLst>
                <a:tab algn="l" pos="0"/>
              </a:tabLst>
            </a:pPr>
            <a:endParaRPr b="0" lang="en-GB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544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1900" strike="noStrike" u="none">
                <a:solidFill>
                  <a:schemeClr val="lt2">
                    <a:lumMod val="10000"/>
                  </a:schemeClr>
                </a:solidFill>
                <a:effectLst/>
                <a:uFillTx/>
                <a:latin typeface="Arial"/>
              </a:rPr>
              <a:t>Bad nucleotides are sometimes written as N (“unknown”, “any”)</a:t>
            </a:r>
            <a:endParaRPr b="0" lang="en-GB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544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1900" strike="noStrike" u="none">
                <a:solidFill>
                  <a:schemeClr val="lt2">
                    <a:lumMod val="10000"/>
                  </a:schemeClr>
                </a:solidFill>
                <a:effectLst/>
                <a:uFillTx/>
                <a:latin typeface="Arial"/>
              </a:rPr>
              <a:t>Character “!” is quality zero</a:t>
            </a:r>
            <a:endParaRPr b="0" lang="en-GB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544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1900" strike="noStrike" u="none">
                <a:solidFill>
                  <a:schemeClr val="lt2">
                    <a:lumMod val="10000"/>
                  </a:schemeClr>
                </a:solidFill>
                <a:effectLst/>
                <a:uFillTx/>
                <a:latin typeface="Arial"/>
              </a:rPr>
              <a:t>If you see an uppercase character, the quality is ok</a:t>
            </a:r>
            <a:endParaRPr b="0" lang="en-GB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title"/>
          </p:nvPr>
        </p:nvSpPr>
        <p:spPr>
          <a:xfrm>
            <a:off x="2463120" y="365040"/>
            <a:ext cx="7912080" cy="82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2">
                    <a:lumMod val="10000"/>
                  </a:schemeClr>
                </a:solidFill>
                <a:effectLst/>
                <a:uFillTx/>
                <a:latin typeface="Arial"/>
              </a:rPr>
              <a:t>FASTQ files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2463120" y="365040"/>
            <a:ext cx="7912080" cy="82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2">
                    <a:lumMod val="10000"/>
                  </a:schemeClr>
                </a:solidFill>
                <a:effectLst/>
                <a:uFillTx/>
                <a:latin typeface="Arial"/>
              </a:rPr>
              <a:t>Phred quality scores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8" name="Picture 2" descr=""/>
          <p:cNvPicPr/>
          <p:nvPr/>
        </p:nvPicPr>
        <p:blipFill>
          <a:blip r:embed="rId1"/>
          <a:stretch/>
        </p:blipFill>
        <p:spPr>
          <a:xfrm>
            <a:off x="2552400" y="1525680"/>
            <a:ext cx="7266240" cy="5064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/>
          </p:nvPr>
        </p:nvSpPr>
        <p:spPr>
          <a:xfrm>
            <a:off x="1757520" y="2577960"/>
            <a:ext cx="10514520" cy="468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lt2">
                    <a:lumMod val="10000"/>
                  </a:schemeClr>
                </a:solidFill>
                <a:effectLst/>
                <a:uFillTx/>
                <a:latin typeface="Arial"/>
              </a:rPr>
              <a:t>Bad qualities:</a:t>
            </a:r>
            <a:r>
              <a:rPr b="0" lang="en-US" sz="2800" strike="noStrike" u="none">
                <a:solidFill>
                  <a:schemeClr val="lt2">
                    <a:lumMod val="10000"/>
                  </a:schemeClr>
                </a:solidFill>
                <a:effectLst/>
                <a:uFillTx/>
                <a:latin typeface="Arial"/>
              </a:rPr>
              <a:t>	</a:t>
            </a:r>
            <a:r>
              <a:rPr b="0" lang="en-US" sz="2800" strike="noStrike" u="none">
                <a:solidFill>
                  <a:schemeClr val="lt2">
                    <a:lumMod val="10000"/>
                  </a:schemeClr>
                </a:solidFill>
                <a:effectLst/>
                <a:uFillTx/>
                <a:latin typeface="Arial"/>
              </a:rPr>
              <a:t>	</a:t>
            </a:r>
            <a:r>
              <a:rPr b="0" lang="en-US" sz="2800" strike="noStrike" u="none">
                <a:solidFill>
                  <a:schemeClr val="lt2">
                    <a:lumMod val="10000"/>
                  </a:schemeClr>
                </a:solidFill>
                <a:effectLst/>
                <a:uFillTx/>
                <a:latin typeface="Arial"/>
              </a:rPr>
              <a:t>       Good qualities: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title"/>
          </p:nvPr>
        </p:nvSpPr>
        <p:spPr>
          <a:xfrm>
            <a:off x="2463120" y="365040"/>
            <a:ext cx="7912080" cy="82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2">
                    <a:lumMod val="10000"/>
                  </a:schemeClr>
                </a:solidFill>
                <a:effectLst/>
                <a:uFillTx/>
                <a:latin typeface="Arial"/>
              </a:rPr>
              <a:t>FastQC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1" name="Bildobjekt 5" descr=""/>
          <p:cNvPicPr/>
          <p:nvPr/>
        </p:nvPicPr>
        <p:blipFill>
          <a:blip r:embed="rId1"/>
          <a:srcRect l="0" t="0" r="0" b="82145"/>
          <a:stretch/>
        </p:blipFill>
        <p:spPr>
          <a:xfrm>
            <a:off x="1757520" y="1496520"/>
            <a:ext cx="8657280" cy="1044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2" name="Picture 3" descr="fastqc5.png"/>
          <p:cNvPicPr/>
          <p:nvPr/>
        </p:nvPicPr>
        <p:blipFill>
          <a:blip r:embed="rId2"/>
          <a:stretch/>
        </p:blipFill>
        <p:spPr>
          <a:xfrm>
            <a:off x="1775880" y="3256200"/>
            <a:ext cx="4251600" cy="318852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</p:pic>
      <p:pic>
        <p:nvPicPr>
          <p:cNvPr id="253" name="Picture 4" descr="fastqc1.png"/>
          <p:cNvPicPr/>
          <p:nvPr/>
        </p:nvPicPr>
        <p:blipFill>
          <a:blip r:embed="rId3"/>
          <a:stretch/>
        </p:blipFill>
        <p:spPr>
          <a:xfrm>
            <a:off x="6158520" y="3255120"/>
            <a:ext cx="4256640" cy="319212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/>
          </p:nvPr>
        </p:nvSpPr>
        <p:spPr>
          <a:xfrm>
            <a:off x="914760" y="1371600"/>
            <a:ext cx="10514520" cy="468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5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SE" sz="2800" strike="noStrike" u="none">
                <a:solidFill>
                  <a:schemeClr val="lt2">
                    <a:lumMod val="10000"/>
                  </a:schemeClr>
                </a:solidFill>
                <a:effectLst/>
                <a:uFillTx/>
                <a:latin typeface="Arial"/>
                <a:ea typeface="Noto Sans CJK SC"/>
              </a:rPr>
              <a:t>Low-quality read ends may introduce spurious variant calls or other problems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5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SE" sz="2800" strike="noStrike" u="none">
                <a:solidFill>
                  <a:schemeClr val="lt2">
                    <a:lumMod val="10000"/>
                  </a:schemeClr>
                </a:solidFill>
                <a:effectLst/>
                <a:uFillTx/>
                <a:latin typeface="Arial"/>
                <a:ea typeface="Noto Sans CJK SC"/>
              </a:rPr>
              <a:t>A tool to trim these is Cutadapt. For 3' trimming, run:</a:t>
            </a:r>
            <a:br>
              <a:rPr sz="2800"/>
            </a:br>
            <a:r>
              <a:rPr b="0" lang="en-SE" sz="2400" strike="noStrike" u="none">
                <a:solidFill>
                  <a:schemeClr val="lt2">
                    <a:lumMod val="10000"/>
                  </a:schemeClr>
                </a:solidFill>
                <a:effectLst/>
                <a:uFillTx/>
                <a:latin typeface="Courier Std"/>
                <a:ea typeface="Noto Sans CJK SC"/>
              </a:rPr>
              <a:t>cutadapt -q 20 -o output.fastq.gz input.fastq.gz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5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SE" sz="2800" strike="noStrike" u="none">
                <a:solidFill>
                  <a:schemeClr val="lt2">
                    <a:lumMod val="10000"/>
                  </a:schemeClr>
                </a:solidFill>
                <a:effectLst/>
                <a:uFillTx/>
                <a:latin typeface="Arial"/>
                <a:ea typeface="Noto Sans CJK SC"/>
              </a:rPr>
              <a:t>Removes ends with quality less than 20 (you choose)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5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SE" sz="2800" strike="noStrike" u="none">
                <a:solidFill>
                  <a:schemeClr val="lt2">
                    <a:lumMod val="10000"/>
                  </a:schemeClr>
                </a:solidFill>
                <a:effectLst/>
                <a:uFillTx/>
                <a:latin typeface="Arial"/>
                <a:ea typeface="Noto Sans CJK SC"/>
              </a:rPr>
              <a:t>Often not needed because read aligners should handle it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5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SE" sz="2800" strike="noStrike" u="none">
                <a:solidFill>
                  <a:schemeClr val="lt2">
                    <a:lumMod val="10000"/>
                  </a:schemeClr>
                </a:solidFill>
                <a:effectLst/>
                <a:uFillTx/>
                <a:latin typeface="Arial"/>
                <a:ea typeface="Noto Sans CJK SC"/>
              </a:rPr>
              <a:t>(Cutadapt can also remove adapters and primers)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5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title"/>
          </p:nvPr>
        </p:nvSpPr>
        <p:spPr>
          <a:xfrm>
            <a:off x="2463120" y="365040"/>
            <a:ext cx="7912080" cy="82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2">
                    <a:lumMod val="10000"/>
                  </a:schemeClr>
                </a:solidFill>
                <a:effectLst/>
                <a:uFillTx/>
                <a:latin typeface="Arial"/>
              </a:rPr>
              <a:t>Quality trimming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/>
          </p:nvPr>
        </p:nvSpPr>
        <p:spPr>
          <a:xfrm>
            <a:off x="914760" y="1371600"/>
            <a:ext cx="10514520" cy="468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SE" sz="2800" strike="noStrike" u="none">
                <a:solidFill>
                  <a:schemeClr val="lt2">
                    <a:lumMod val="10000"/>
                  </a:schemeClr>
                </a:solidFill>
                <a:effectLst/>
                <a:uFillTx/>
                <a:latin typeface="Arial"/>
                <a:ea typeface="Noto Sans CJK SC"/>
              </a:rPr>
              <a:t>Gathers output from other bioinformatics tools and generates a </a:t>
            </a:r>
            <a:r>
              <a:rPr b="0" lang="en-SE" sz="2800" strike="noStrike" u="none">
                <a:solidFill>
                  <a:schemeClr val="lt2">
                    <a:lumMod val="10000"/>
                  </a:schemeClr>
                </a:solidFill>
                <a:effectLst/>
                <a:uFillTx/>
                <a:latin typeface="Arial"/>
                <a:ea typeface="Noto Sans CJK SC"/>
              </a:rPr>
              <a:t>single report for all samples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SE" sz="2800" strike="noStrike" u="none">
                <a:solidFill>
                  <a:schemeClr val="lt2">
                    <a:lumMod val="10000"/>
                  </a:schemeClr>
                </a:solidFill>
                <a:effectLst/>
                <a:uFillTx/>
                <a:latin typeface="Arial"/>
                <a:ea typeface="Noto Sans CJK SC"/>
              </a:rPr>
              <a:t>Example NGI report: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 type="title"/>
          </p:nvPr>
        </p:nvSpPr>
        <p:spPr>
          <a:xfrm>
            <a:off x="2463120" y="365040"/>
            <a:ext cx="7912080" cy="82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2">
                    <a:lumMod val="10000"/>
                  </a:schemeClr>
                </a:solidFill>
                <a:effectLst/>
                <a:uFillTx/>
                <a:latin typeface="Arial"/>
              </a:rPr>
              <a:t>MultiQC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8" name="" descr=""/>
          <p:cNvPicPr/>
          <p:nvPr/>
        </p:nvPicPr>
        <p:blipFill>
          <a:blip r:embed="rId1"/>
          <a:stretch/>
        </p:blipFill>
        <p:spPr>
          <a:xfrm>
            <a:off x="0" y="2945160"/>
            <a:ext cx="12191040" cy="3912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/>
          </p:nvPr>
        </p:nvSpPr>
        <p:spPr>
          <a:xfrm>
            <a:off x="838080" y="1486800"/>
            <a:ext cx="10514520" cy="468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81717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2">
                    <a:lumMod val="10000"/>
                  </a:schemeClr>
                </a:solidFill>
                <a:effectLst/>
                <a:uFillTx/>
                <a:latin typeface="Arial"/>
              </a:rPr>
              <a:t>Different NGS application have their own problem areas and require their own QC strategy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81717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800" strike="noStrike" u="none">
                <a:solidFill>
                  <a:schemeClr val="lt2">
                    <a:lumMod val="10000"/>
                  </a:schemeClr>
                </a:solidFill>
                <a:effectLst/>
                <a:uFillTx/>
                <a:latin typeface="Arial"/>
              </a:rPr>
              <a:t>Today: Focus on QC for whole genome sequencing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81717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800" strike="noStrike" u="none">
                <a:solidFill>
                  <a:schemeClr val="lt2">
                    <a:lumMod val="10000"/>
                  </a:schemeClr>
                </a:solidFill>
                <a:effectLst/>
                <a:uFillTx/>
                <a:latin typeface="Arial"/>
              </a:rPr>
              <a:t>For variant calling, it is important to look at quality score distribution, sequence length distribution and duplication levels. 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81717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800" strike="noStrike" u="none">
                <a:solidFill>
                  <a:schemeClr val="lt2">
                    <a:lumMod val="10000"/>
                  </a:schemeClr>
                </a:solidFill>
                <a:effectLst/>
                <a:uFillTx/>
                <a:latin typeface="Arial"/>
              </a:rPr>
              <a:t>Thursday: More details on QC for RNA-seq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title"/>
          </p:nvPr>
        </p:nvSpPr>
        <p:spPr>
          <a:xfrm>
            <a:off x="2463120" y="365040"/>
            <a:ext cx="7912080" cy="82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000" strike="noStrike" u="none">
                <a:solidFill>
                  <a:schemeClr val="lt2">
                    <a:lumMod val="10000"/>
                  </a:schemeClr>
                </a:solidFill>
                <a:effectLst/>
                <a:uFillTx/>
                <a:latin typeface="Arial"/>
              </a:rPr>
              <a:t>What is QC?</a:t>
            </a:r>
            <a:endParaRPr b="0" lang="en-GB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/>
          </p:nvPr>
        </p:nvSpPr>
        <p:spPr>
          <a:xfrm>
            <a:off x="838080" y="1486800"/>
            <a:ext cx="10514520" cy="468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81717"/>
              </a:buClr>
              <a:buFont typeface="Arial"/>
              <a:buChar char="•"/>
            </a:pPr>
            <a:r>
              <a:rPr b="0" lang="en-GB" sz="2800" strike="noStrike" u="sng">
                <a:solidFill>
                  <a:schemeClr val="lt2">
                    <a:lumMod val="10000"/>
                  </a:schemeClr>
                </a:solidFill>
                <a:effectLst/>
                <a:uFillTx/>
                <a:latin typeface="Arial"/>
                <a:hlinkClick r:id="rId1"/>
              </a:rPr>
              <a:t>FastQC homepage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81717"/>
              </a:buClr>
              <a:buFont typeface="Arial"/>
              <a:buChar char="•"/>
            </a:pPr>
            <a:r>
              <a:rPr b="0" lang="en-GB" sz="2800" strike="noStrike" u="sng">
                <a:solidFill>
                  <a:schemeClr val="lt2">
                    <a:lumMod val="10000"/>
                  </a:schemeClr>
                </a:solidFill>
                <a:effectLst/>
                <a:uFillTx/>
                <a:latin typeface="Arial"/>
                <a:hlinkClick r:id="rId2"/>
              </a:rPr>
              <a:t>Explanation of FastQC’s sequence quality plot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81717"/>
              </a:buClr>
              <a:buFont typeface="Arial"/>
              <a:buChar char="•"/>
            </a:pPr>
            <a:r>
              <a:rPr b="0" lang="en-GB" sz="2800" strike="noStrike" u="sng">
                <a:solidFill>
                  <a:schemeClr val="lt2">
                    <a:lumMod val="10000"/>
                  </a:schemeClr>
                </a:solidFill>
                <a:effectLst/>
                <a:uFillTx/>
                <a:latin typeface="Arial"/>
                <a:hlinkClick r:id="rId3"/>
              </a:rPr>
              <a:t>MultiQC homepage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417"/>
              </a:spcBef>
              <a:buClr>
                <a:srgbClr val="181717"/>
              </a:buClr>
              <a:buFont typeface="Arial"/>
              <a:buChar char="•"/>
            </a:pPr>
            <a:r>
              <a:rPr b="0" lang="en-GB" sz="2800" strike="noStrike" u="sng">
                <a:solidFill>
                  <a:schemeClr val="lt2">
                    <a:lumMod val="10000"/>
                  </a:schemeClr>
                </a:solidFill>
                <a:effectLst/>
                <a:uFillTx/>
                <a:latin typeface="Arial"/>
                <a:hlinkClick r:id="rId4"/>
              </a:rPr>
              <a:t>MultiQC example report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 type="title"/>
          </p:nvPr>
        </p:nvSpPr>
        <p:spPr>
          <a:xfrm>
            <a:off x="2463120" y="365040"/>
            <a:ext cx="7912080" cy="82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000" strike="noStrike" u="none">
                <a:solidFill>
                  <a:schemeClr val="lt2">
                    <a:lumMod val="10000"/>
                  </a:schemeClr>
                </a:solidFill>
                <a:effectLst/>
                <a:uFillTx/>
                <a:latin typeface="Arial"/>
              </a:rPr>
              <a:t>Links</a:t>
            </a:r>
            <a:endParaRPr b="0" lang="en-GB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" dur="indefinite" restart="never" nodeType="tmRoot">
          <p:childTnLst>
            <p:seq>
              <p:cTn id="20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ciLifeLab PPT_light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ciLifeLab PPT_light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ciLifeLab PPT_light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ciLifeLab PPT_light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ciLifeLab PPT_light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ciLifeLab PPT_light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ciLifeLab PPT_light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ciLifeLab PPT_light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ciLifeLab PPT_light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ciLifeLab PPT_light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ciLifeLab PPT_light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SciLifeLab PPT_light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SciLifeLab PPT_light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SciLifeLab PPT_light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SciLifeLab PPT_light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SciLifeLab PPT_light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SciLifeLab PPT_light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SciLifeLab PPT_light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SciLifeLab PPT_light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SciLifeLab PPT_light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SciLifeLab PPT_light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SciLifeLab PPT_light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SciLifeLab PPT_dark">
  <a:themeElements>
    <a:clrScheme name="SciLifeLab Colo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SciLifeLab PPT_dark">
  <a:themeElements>
    <a:clrScheme name="SciLifeLab Colo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SciLifeLab PPT_dark">
  <a:themeElements>
    <a:clrScheme name="SciLifeLab Colo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SciLifeLab PPT_dark">
  <a:themeElements>
    <a:clrScheme name="SciLifeLab Colo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SciLifeLab PPT_dark">
  <a:themeElements>
    <a:clrScheme name="SciLifeLab Colo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SciLifeLab PPT_dark">
  <a:themeElements>
    <a:clrScheme name="SciLifeLab Colo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SciLifeLab PPT_dark">
  <a:themeElements>
    <a:clrScheme name="SciLifeLab Colo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SciLifeLab PPT_dark">
  <a:themeElements>
    <a:clrScheme name="SciLifeLab Colo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SciLifeLab PPT_dark">
  <a:themeElements>
    <a:clrScheme name="SciLifeLab Colo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SciLifeLab PPT_dark">
  <a:themeElements>
    <a:clrScheme name="SciLifeLab Colo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SciLifeLab PPT_dark">
  <a:themeElements>
    <a:clrScheme name="SciLifeLab Colo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SciLifeLab PPT_dark">
  <a:themeElements>
    <a:clrScheme name="SciLifeLab Colo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SciLifeLab PPT_dark">
  <a:themeElements>
    <a:clrScheme name="SciLifeLab Colo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SciLifeLab PPT_dark">
  <a:themeElements>
    <a:clrScheme name="SciLifeLab Colo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SciLifeLab PPT_dark">
  <a:themeElements>
    <a:clrScheme name="SciLifeLab Colo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SciLifeLab PPT_dark">
  <a:themeElements>
    <a:clrScheme name="SciLifeLab Colo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SciLifeLab PPT_dark">
  <a:themeElements>
    <a:clrScheme name="SciLifeLab Colo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SciLifeLab PPT_dark">
  <a:themeElements>
    <a:clrScheme name="SciLifeLab Colo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SciLifeLab PPT_dark">
  <a:themeElements>
    <a:clrScheme name="SciLifeLab Colo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SciLifeLab PPT_dark">
  <a:themeElements>
    <a:clrScheme name="SciLifeLab Colo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7c947"/>
      </a:accent1>
      <a:accent2>
        <a:srgbClr val="045c64"/>
      </a:accent2>
      <a:accent3>
        <a:srgbClr val="4c979f"/>
      </a:accent3>
      <a:accent4>
        <a:srgbClr val="491f53"/>
      </a:accent4>
      <a:accent5>
        <a:srgbClr val="e5e5e5"/>
      </a:accent5>
      <a:accent6>
        <a:srgbClr val="a6a6a6"/>
      </a:accent6>
      <a:hlink>
        <a:srgbClr val="045b63"/>
      </a:hlink>
      <a:folHlink>
        <a:srgbClr val="045c64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SciLifeLab PPT_light</Template>
  <TotalTime>4387</TotalTime>
  <Application>LibreOffice/25.2.3.2$Linux_X86_64 LibreOffice_project/520$Build-2</Application>
  <AppVersion>15.0000</AppVersion>
  <Words>156</Words>
  <Paragraphs>28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2022-03-24T07:58:12Z</dcterms:created>
  <dc:creator>Malin Larsson</dc:creator>
  <dc:description/>
  <dc:language>en-US</dc:language>
  <cp:lastModifiedBy>Marcel Martin</cp:lastModifiedBy>
  <dcterms:modified xsi:type="dcterms:W3CDTF">2026-03-02T22:42:54Z</dcterms:modified>
  <cp:revision>12</cp:revision>
  <dc:subject/>
  <dc:title>Quality Control of NGS data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Widescreen</vt:lpwstr>
  </property>
  <property fmtid="{D5CDD505-2E9C-101B-9397-08002B2CF9AE}" pid="4" name="Slides">
    <vt:i4>7</vt:i4>
  </property>
</Properties>
</file>